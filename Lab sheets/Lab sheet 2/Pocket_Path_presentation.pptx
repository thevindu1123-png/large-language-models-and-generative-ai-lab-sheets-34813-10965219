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24E1EED8-1E76-7AD8-19AE-9B896A9B506E}">
          <p14:sldIdLst>
            <p14:sldId id="256"/>
            <p14:sldId id="257"/>
          </p14:sldIdLst>
        </p14:section>
        <p14:section name="Product" id="{1CEA41E2-3690-85D0-1C06-60E72DB8059A}">
          <p14:sldIdLst>
            <p14:sldId id="258"/>
            <p14:sldId id="259"/>
            <p14:sldId id="260"/>
            <p14:sldId id="261"/>
            <p14:sldId id="262"/>
            <p14:sldId id="263"/>
          </p14:sldIdLst>
        </p14:section>
        <p14:section name="Process" id="{3ECF5E0B-8014-DAD0-E12F-4D68CF9AA5B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839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Group 8. Our brief was the budget-challenged student, and our product is called Pocket Path.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purchases feels minor, so nobody tracks them. Together they add up, and students lose sight of where their money goes. Existing budgeting apps are built for salaries and bills, so they feel like homework.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Pocket Path answers one question every day: how much can I safely spend today? On the right is our home screen with sample numbers. Our target user is a first-year student on a fixed allowance who has never budgeted before.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Pocket Path takes three steps: make a purchase, open quick add, and save the expense with an amount and a category. Pocket Path then updates the home screen, the insights and the budget warnings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us to help students understand, control and manage their spending, so we built the features around those three words. Quick add and insights help them understand. The daily safe-to-spend figure and category budgets help them control. The subscription tracker helps them manage over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safe-to-spend figure is simple. Take the monthly allowance, subtract what has been spent, and divide what is left by the days remaining. In this example a student with 12,000 left and 15 days to go can spend 800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screens of our prototype: the home screen with the daily figure, quick add, insights, budgets and subscriptions. All numbers are sample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five screens. Home and insights only read data. Quick add, budgets and subscriptions also save what the student enters. Everything is stored on the phone, so there is no login and no bank connection.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an LLM as a partner at every stage. It generated options and we made the decisions. Mention one or two things the group changed from Claude's first suggestions and why.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Pocket Path: it shows students where their small daily spending goes and tells them what they can safely spend today.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291840"/>
            <a:ext cx="7680960" cy="1737360"/>
          </a:xfrm>
          <a:prstGeom prst="rect">
            <a:avLst/>
          </a:prstGeom>
          <a:noFill/>
          <a:ln/>
        </p:spPr>
        <p:txBody>
          <a:bodyPr wrap="square" rtlCol="0"/>
          <a:lstStyle>
            <a:lvl1pPr marL="0" indent="0" algn="l">
              <a:buNone/>
              <a:defRPr lang="en-US" sz="8000" b="1" dirty="0">
                <a:solidFill>
                  <a:schemeClr val="bg1"/>
                </a:solidFill>
              </a:defRPr>
            </a:lvl1pPr>
          </a:lstStyle>
          <a:p>
            <a:pPr marL="0" indent="0" algn="l">
              <a:buNone/>
            </a:pPr>
            <a:endParaRPr lang="en-US" sz="8000" dirty="0"/>
          </a:p>
        </p:txBody>
      </p:sp>
      <p:sp>
        <p:nvSpPr>
          <p:cNvPr id="3" name="Text 0"/>
          <p:cNvSpPr>
            <a:spLocks noGrp="1"/>
          </p:cNvSpPr>
          <p:nvPr>
            <p:ph type="body" idx="101" hasCustomPrompt="1"/>
          </p:nvPr>
        </p:nvSpPr>
        <p:spPr>
          <a:xfrm>
            <a:off x="640080" y="5120640"/>
            <a:ext cx="7315200" cy="640080"/>
          </a:xfrm>
          <a:prstGeom prst="rect">
            <a:avLst/>
          </a:prstGeom>
          <a:noFill/>
          <a:ln/>
        </p:spPr>
        <p:txBody>
          <a:bodyPr wrap="square" rtlCol="0"/>
          <a:lstStyle>
            <a:lvl1pPr marL="0" indent="0">
              <a:buNone/>
              <a:defRPr lang="en-US" sz="2400" dirty="0">
                <a:solidFill>
                  <a:schemeClr val="bg1"/>
                </a:solidFill>
              </a:defRPr>
            </a:lvl1pPr>
          </a:lstStyle>
          <a:p>
            <a:pPr marL="0" indent="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640080" y="6355080"/>
            <a:ext cx="4572000" cy="274320"/>
          </a:xfrm>
          <a:prstGeom prst="rect">
            <a:avLst/>
          </a:prstGeom>
          <a:noFill/>
          <a:ln/>
        </p:spPr>
        <p:txBody>
          <a:bodyPr wrap="square" lIns="0" tIns="0" rIns="0" bIns="0" rtlCol="0" anchor="ctr"/>
          <a:lstStyle/>
          <a:p>
            <a:pPr marL="0" indent="0">
              <a:buNone/>
            </a:pPr>
            <a:r>
              <a:rPr lang="en-US" sz="1000" dirty="0">
                <a:solidFill>
                  <a:schemeClr val="bg2"/>
                </a:solidFill>
              </a:rPr>
              <a:t>Pocket Path  |  Group 8</a:t>
            </a:r>
            <a:endParaRPr lang="en-US" sz="1000" dirty="0"/>
          </a:p>
        </p:txBody>
      </p:sp>
      <p:sp>
        <p:nvSpPr>
          <p:cNvPr id="3" name="Text 1"/>
          <p:cNvSpPr>
            <a:spLocks noGrp="1"/>
          </p:cNvSpPr>
          <p:nvPr>
            <p:ph type="title" idx="101" hasCustomPrompt="1"/>
          </p:nvPr>
        </p:nvSpPr>
        <p:spPr>
          <a:xfrm>
            <a:off x="640080" y="457200"/>
            <a:ext cx="10908792"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10515600" cy="2743200"/>
          </a:xfrm>
          <a:prstGeom prst="rect">
            <a:avLst/>
          </a:prstGeom>
          <a:noFill/>
          <a:ln/>
        </p:spPr>
        <p:txBody>
          <a:bodyPr wrap="square" rtlCol="0"/>
          <a:lstStyle>
            <a:lvl1pPr marL="0" indent="0" algn="l">
              <a:buNone/>
              <a:defRPr lang="en-US" sz="4400" b="1" dirty="0">
                <a:solidFill>
                  <a:schemeClr val="tx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5120640"/>
            <a:ext cx="10515600" cy="640080"/>
          </a:xfrm>
          <a:prstGeom prst="rect">
            <a:avLst/>
          </a:prstGeom>
          <a:noFill/>
          <a:ln/>
        </p:spPr>
        <p:txBody>
          <a:bodyPr wrap="square" rtlCol="0"/>
          <a:lstStyle>
            <a:lvl1pPr marL="0" indent="0">
              <a:buNone/>
              <a:defRPr lang="en-US" sz="2200" dirty="0">
                <a:solidFill>
                  <a:schemeClr val="tx1"/>
                </a:solidFill>
              </a:defRPr>
            </a:lvl1pPr>
          </a:lstStyle>
          <a:p>
            <a:pPr marL="0" indent="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640080" y="731520"/>
            <a:ext cx="7315200"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GROUP 8  |  LLM PRODUCT DEVELOPMENT LAB</a:t>
            </a:r>
            <a:endParaRPr lang="en-US" sz="1100" dirty="0"/>
          </a:p>
        </p:txBody>
      </p:sp>
      <p:sp>
        <p:nvSpPr>
          <p:cNvPr id="3" name="Coin 2"/>
          <p:cNvSpPr/>
          <p:nvPr/>
        </p:nvSpPr>
        <p:spPr>
          <a:xfrm>
            <a:off x="9692640" y="640080"/>
            <a:ext cx="1828800" cy="1828800"/>
          </a:xfrm>
          <a:prstGeom prst="ellipse">
            <a:avLst/>
          </a:prstGeom>
          <a:solidFill>
            <a:schemeClr val="accent1"/>
          </a:solidFill>
          <a:ln w="12700">
            <a:solidFill>
              <a:schemeClr val="accent1"/>
            </a:solidFill>
            <a:prstDash val="solid"/>
          </a:ln>
        </p:spPr>
        <p:txBody>
          <a:bodyPr/>
          <a:lstStyle/>
          <a:p>
            <a:endParaRPr lang="en-US"/>
          </a:p>
        </p:txBody>
      </p:sp>
      <p:sp>
        <p:nvSpPr>
          <p:cNvPr id="4" name="Coin 3"/>
          <p:cNvSpPr/>
          <p:nvPr/>
        </p:nvSpPr>
        <p:spPr>
          <a:xfrm>
            <a:off x="8503920" y="2651760"/>
            <a:ext cx="1188720" cy="1188720"/>
          </a:xfrm>
          <a:prstGeom prst="ellipse">
            <a:avLst/>
          </a:prstGeom>
          <a:solidFill>
            <a:schemeClr val="accent1"/>
          </a:solidFill>
          <a:ln w="12700">
            <a:solidFill>
              <a:schemeClr val="accent1"/>
            </a:solidFill>
            <a:prstDash val="solid"/>
          </a:ln>
        </p:spPr>
        <p:txBody>
          <a:bodyPr/>
          <a:lstStyle/>
          <a:p>
            <a:endParaRPr lang="en-US"/>
          </a:p>
        </p:txBody>
      </p:sp>
      <p:sp>
        <p:nvSpPr>
          <p:cNvPr id="5" name="Coin 4"/>
          <p:cNvSpPr/>
          <p:nvPr/>
        </p:nvSpPr>
        <p:spPr>
          <a:xfrm>
            <a:off x="9966960" y="393192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6" name="Coin 5"/>
          <p:cNvSpPr/>
          <p:nvPr/>
        </p:nvSpPr>
        <p:spPr>
          <a:xfrm>
            <a:off x="9326880" y="4937760"/>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7" name="Coin 6"/>
          <p:cNvSpPr/>
          <p:nvPr/>
        </p:nvSpPr>
        <p:spPr>
          <a:xfrm>
            <a:off x="9966960" y="5577840"/>
            <a:ext cx="228600" cy="228600"/>
          </a:xfrm>
          <a:prstGeom prst="ellipse">
            <a:avLst/>
          </a:prstGeom>
          <a:solidFill>
            <a:schemeClr val="accent1"/>
          </a:solidFill>
          <a:ln w="12700">
            <a:solidFill>
              <a:schemeClr val="accent1"/>
            </a:solidFill>
            <a:prstDash val="solid"/>
          </a:ln>
        </p:spPr>
        <p:txBody>
          <a:bodyPr/>
          <a:lstStyle/>
          <a:p>
            <a:endParaRPr lang="en-US"/>
          </a:p>
        </p:txBody>
      </p:sp>
      <p:sp>
        <p:nvSpPr>
          <p:cNvPr id="8" name="Coin 7"/>
          <p:cNvSpPr/>
          <p:nvPr/>
        </p:nvSpPr>
        <p:spPr>
          <a:xfrm>
            <a:off x="9692640" y="6035040"/>
            <a:ext cx="109728" cy="109728"/>
          </a:xfrm>
          <a:prstGeom prst="ellipse">
            <a:avLst/>
          </a:prstGeom>
          <a:solidFill>
            <a:schemeClr val="accent1"/>
          </a:solidFill>
          <a:ln w="12700">
            <a:solidFill>
              <a:schemeClr val="accent1"/>
            </a:solidFill>
            <a:prstDash val="solid"/>
          </a:ln>
        </p:spPr>
        <p:txBody>
          <a:bodyPr/>
          <a:lstStyle/>
          <a:p>
            <a:endParaRPr lang="en-US"/>
          </a:p>
        </p:txBody>
      </p:sp>
      <p:sp>
        <p:nvSpPr>
          <p:cNvPr id="9" name="Text 0"/>
          <p:cNvSpPr>
            <a:spLocks noGrp="1"/>
          </p:cNvSpPr>
          <p:nvPr>
            <p:ph type="title" idx="100" hasCustomPrompt="1"/>
          </p:nvPr>
        </p:nvSpPr>
        <p:spPr>
          <a:xfrm>
            <a:off x="640080" y="3291840"/>
            <a:ext cx="7680960" cy="1737360"/>
          </a:xfrm>
          <a:prstGeom prst="rect">
            <a:avLst/>
          </a:prstGeom>
          <a:noFill/>
          <a:ln/>
        </p:spPr>
        <p:txBody>
          <a:bodyPr wrap="square" lIns="0" tIns="0" rIns="0" bIns="0" rtlCol="0" anchor="b"/>
          <a:lstStyle/>
          <a:p>
            <a:pPr marL="0" indent="0" algn="l">
              <a:buNone/>
            </a:pPr>
            <a:r>
              <a:rPr lang="en-US" sz="8000" b="1">
                <a:solidFill>
                  <a:schemeClr val="bg1"/>
                </a:solidFill>
              </a:rPr>
              <a:t>PocketPath</a:t>
            </a:r>
            <a:endParaRPr lang="en-US" sz="8000" dirty="0"/>
          </a:p>
        </p:txBody>
      </p:sp>
      <p:sp>
        <p:nvSpPr>
          <p:cNvPr id="10" name="Text 0"/>
          <p:cNvSpPr>
            <a:spLocks noGrp="1"/>
          </p:cNvSpPr>
          <p:nvPr>
            <p:ph type="body" idx="101" hasCustomPrompt="1"/>
          </p:nvPr>
        </p:nvSpPr>
        <p:spPr>
          <a:xfrm>
            <a:off x="640080" y="5120640"/>
            <a:ext cx="7315200" cy="640080"/>
          </a:xfrm>
          <a:prstGeom prst="rect">
            <a:avLst/>
          </a:prstGeom>
          <a:noFill/>
          <a:ln/>
        </p:spPr>
        <p:txBody>
          <a:bodyPr wrap="square" lIns="0" tIns="0" rIns="0" bIns="0" rtlCol="0"/>
          <a:lstStyle/>
          <a:p>
            <a:pPr marL="0" indent="0">
              <a:buNone/>
            </a:pPr>
            <a:r>
              <a:rPr lang="en-US" sz="2400" dirty="0">
                <a:solidFill>
                  <a:schemeClr val="bg1"/>
                </a:solidFill>
              </a:rPr>
              <a:t>See where the small stuff goes.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The problem</a:t>
            </a:r>
            <a:endParaRPr lang="en-US" sz="3400" dirty="0"/>
          </a:p>
        </p:txBody>
      </p:sp>
      <p:sp>
        <p:nvSpPr>
          <p:cNvPr id="3" name="Text 8"/>
          <p:cNvSpPr txBox="1"/>
          <p:nvPr/>
        </p:nvSpPr>
        <p:spPr>
          <a:xfrm>
            <a:off x="640080" y="1737360"/>
            <a:ext cx="9601200" cy="1737360"/>
          </a:xfrm>
          <a:prstGeom prst="rect">
            <a:avLst/>
          </a:prstGeom>
          <a:noFill/>
          <a:ln/>
        </p:spPr>
        <p:txBody>
          <a:bodyPr wrap="square" lIns="0" tIns="0" rIns="0" bIns="0" rtlCol="0" anchor="t"/>
          <a:lstStyle/>
          <a:p>
            <a:pPr marL="0" indent="0">
              <a:buNone/>
            </a:pPr>
            <a:r>
              <a:rPr lang="en-US" sz="4000" b="1" dirty="0">
                <a:solidFill>
                  <a:schemeClr val="bg1"/>
                </a:solidFill>
                <a:latin typeface="+mj-lt" pitchFamily="34" charset="0"/>
                <a:ea typeface="+mj-lt" pitchFamily="34" charset="-122"/>
                <a:cs typeface="+mj-lt" pitchFamily="34" charset="-120"/>
              </a:rPr>
              <a:t>Students overspend on things </a:t>
            </a:r>
            <a:r>
              <a:rPr lang="en-US" sz="4000" b="1" dirty="0">
                <a:solidFill>
                  <a:schemeClr val="accent1"/>
                </a:solidFill>
                <a:latin typeface="+mj-lt" pitchFamily="34" charset="0"/>
                <a:ea typeface="+mj-lt" pitchFamily="34" charset="-122"/>
                <a:cs typeface="+mj-lt" pitchFamily="34" charset="-120"/>
              </a:rPr>
              <a:t>too small to feel worth tracking.</a:t>
            </a:r>
            <a:endParaRPr lang="en-US" sz="4000" dirty="0"/>
          </a:p>
        </p:txBody>
      </p:sp>
      <p:sp>
        <p:nvSpPr>
          <p:cNvPr id="4" name="Text 9"/>
          <p:cNvSpPr txBox="1"/>
          <p:nvPr/>
        </p:nvSpPr>
        <p:spPr>
          <a:xfrm>
            <a:off x="640080" y="4114800"/>
            <a:ext cx="54864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WHERE IT GOES, EVERY DAY</a:t>
            </a:r>
            <a:endParaRPr lang="en-US" sz="1100" dirty="0"/>
          </a:p>
        </p:txBody>
      </p:sp>
      <p:sp>
        <p:nvSpPr>
          <p:cNvPr id="5" name="Card 10"/>
          <p:cNvSpPr/>
          <p:nvPr/>
        </p:nvSpPr>
        <p:spPr>
          <a:xfrm>
            <a:off x="640080"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6" name="Text 11"/>
          <p:cNvSpPr txBox="1"/>
          <p:nvPr/>
        </p:nvSpPr>
        <p:spPr>
          <a:xfrm>
            <a:off x="640080"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Food</a:t>
            </a:r>
            <a:endParaRPr lang="en-US" sz="1500" dirty="0"/>
          </a:p>
        </p:txBody>
      </p:sp>
      <p:sp>
        <p:nvSpPr>
          <p:cNvPr id="7" name="Card 12"/>
          <p:cNvSpPr/>
          <p:nvPr/>
        </p:nvSpPr>
        <p:spPr>
          <a:xfrm>
            <a:off x="2212848"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8" name="Text 13"/>
          <p:cNvSpPr txBox="1"/>
          <p:nvPr/>
        </p:nvSpPr>
        <p:spPr>
          <a:xfrm>
            <a:off x="2212848"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Transport</a:t>
            </a:r>
            <a:endParaRPr lang="en-US" sz="1500" dirty="0"/>
          </a:p>
        </p:txBody>
      </p:sp>
      <p:sp>
        <p:nvSpPr>
          <p:cNvPr id="9" name="Card 14"/>
          <p:cNvSpPr/>
          <p:nvPr/>
        </p:nvSpPr>
        <p:spPr>
          <a:xfrm>
            <a:off x="3785616"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10" name="Text 15"/>
          <p:cNvSpPr txBox="1"/>
          <p:nvPr/>
        </p:nvSpPr>
        <p:spPr>
          <a:xfrm>
            <a:off x="3785616"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Coffee</a:t>
            </a:r>
            <a:endParaRPr lang="en-US" sz="1500" dirty="0"/>
          </a:p>
        </p:txBody>
      </p:sp>
      <p:sp>
        <p:nvSpPr>
          <p:cNvPr id="11" name="Card 16"/>
          <p:cNvSpPr/>
          <p:nvPr/>
        </p:nvSpPr>
        <p:spPr>
          <a:xfrm>
            <a:off x="5358384"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12" name="Text 17"/>
          <p:cNvSpPr txBox="1"/>
          <p:nvPr/>
        </p:nvSpPr>
        <p:spPr>
          <a:xfrm>
            <a:off x="5358384"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Subscriptions</a:t>
            </a:r>
            <a:endParaRPr lang="en-US" sz="1500" dirty="0"/>
          </a:p>
        </p:txBody>
      </p:sp>
      <p:sp>
        <p:nvSpPr>
          <p:cNvPr id="13" name="Card 18"/>
          <p:cNvSpPr/>
          <p:nvPr/>
        </p:nvSpPr>
        <p:spPr>
          <a:xfrm>
            <a:off x="6931152"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14" name="Text 19"/>
          <p:cNvSpPr txBox="1"/>
          <p:nvPr/>
        </p:nvSpPr>
        <p:spPr>
          <a:xfrm>
            <a:off x="6931152"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Shopping</a:t>
            </a:r>
            <a:endParaRPr lang="en-US" sz="1500" dirty="0"/>
          </a:p>
        </p:txBody>
      </p:sp>
      <p:sp>
        <p:nvSpPr>
          <p:cNvPr id="15" name="Card 20"/>
          <p:cNvSpPr/>
          <p:nvPr/>
        </p:nvSpPr>
        <p:spPr>
          <a:xfrm>
            <a:off x="8503920"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16" name="Text 21"/>
          <p:cNvSpPr txBox="1"/>
          <p:nvPr/>
        </p:nvSpPr>
        <p:spPr>
          <a:xfrm>
            <a:off x="8503920"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Printing</a:t>
            </a:r>
            <a:endParaRPr lang="en-US" sz="1500" dirty="0"/>
          </a:p>
        </p:txBody>
      </p:sp>
      <p:sp>
        <p:nvSpPr>
          <p:cNvPr id="17" name="Card 22"/>
          <p:cNvSpPr/>
          <p:nvPr/>
        </p:nvSpPr>
        <p:spPr>
          <a:xfrm>
            <a:off x="10076688" y="4526280"/>
            <a:ext cx="1417320" cy="594360"/>
          </a:xfrm>
          <a:prstGeom prst="roundRect">
            <a:avLst>
              <a:gd name="adj" fmla="val 18462"/>
            </a:avLst>
          </a:prstGeom>
          <a:solidFill>
            <a:schemeClr val="tx2"/>
          </a:solidFill>
          <a:ln w="12700">
            <a:solidFill>
              <a:schemeClr val="accent3"/>
            </a:solidFill>
            <a:prstDash val="solid"/>
          </a:ln>
        </p:spPr>
        <p:txBody>
          <a:bodyPr/>
          <a:lstStyle/>
          <a:p>
            <a:endParaRPr lang="en-US"/>
          </a:p>
        </p:txBody>
      </p:sp>
      <p:sp>
        <p:nvSpPr>
          <p:cNvPr id="18" name="Text 23"/>
          <p:cNvSpPr txBox="1"/>
          <p:nvPr/>
        </p:nvSpPr>
        <p:spPr>
          <a:xfrm>
            <a:off x="10076688" y="4526280"/>
            <a:ext cx="1417320" cy="594360"/>
          </a:xfrm>
          <a:prstGeom prst="rect">
            <a:avLst/>
          </a:prstGeom>
          <a:noFill/>
          <a:ln/>
        </p:spPr>
        <p:txBody>
          <a:bodyPr wrap="square" lIns="0" tIns="0" rIns="0" bIns="0" rtlCol="0" anchor="ctr"/>
          <a:lstStyle/>
          <a:p>
            <a:pPr marL="0" indent="0" algn="ctr">
              <a:buNone/>
            </a:pPr>
            <a:r>
              <a:rPr lang="en-US" sz="1500" b="1" dirty="0">
                <a:solidFill>
                  <a:schemeClr val="bg1"/>
                </a:solidFill>
              </a:rPr>
              <a:t>Social</a:t>
            </a:r>
            <a:endParaRPr lang="en-US" sz="1500" dirty="0"/>
          </a:p>
        </p:txBody>
      </p:sp>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The product</a:t>
            </a:r>
            <a:endParaRPr lang="en-US" sz="3400" dirty="0"/>
          </a:p>
        </p:txBody>
      </p:sp>
      <p:sp>
        <p:nvSpPr>
          <p:cNvPr id="3" name="Text 24"/>
          <p:cNvSpPr txBox="1"/>
          <p:nvPr/>
        </p:nvSpPr>
        <p:spPr>
          <a:xfrm>
            <a:off x="640080" y="1645920"/>
            <a:ext cx="7132320" cy="1554480"/>
          </a:xfrm>
          <a:prstGeom prst="rect">
            <a:avLst/>
          </a:prstGeom>
          <a:noFill/>
          <a:ln/>
        </p:spPr>
        <p:txBody>
          <a:bodyPr wrap="square" lIns="0" tIns="0" rIns="0" bIns="0" rtlCol="0" anchor="t"/>
          <a:lstStyle/>
          <a:p>
            <a:pPr marL="0" indent="0">
              <a:buNone/>
            </a:pPr>
            <a:r>
              <a:rPr lang="en-US" sz="2400" dirty="0">
                <a:solidFill>
                  <a:schemeClr val="bg1"/>
                </a:solidFill>
              </a:rPr>
              <a:t>A mobile app that makes logging a small purchase take under five seconds, then shows how those purchases add up.</a:t>
            </a:r>
            <a:endParaRPr lang="en-US" sz="2400" dirty="0"/>
          </a:p>
        </p:txBody>
      </p:sp>
      <p:sp>
        <p:nvSpPr>
          <p:cNvPr id="4" name="Card 25"/>
          <p:cNvSpPr/>
          <p:nvPr/>
        </p:nvSpPr>
        <p:spPr>
          <a:xfrm>
            <a:off x="640080" y="3474720"/>
            <a:ext cx="7132320" cy="2286000"/>
          </a:xfrm>
          <a:prstGeom prst="roundRect">
            <a:avLst>
              <a:gd name="adj" fmla="val 4800"/>
            </a:avLst>
          </a:prstGeom>
          <a:solidFill>
            <a:schemeClr val="tx2"/>
          </a:solidFill>
          <a:ln w="12700">
            <a:solidFill>
              <a:schemeClr val="accent3"/>
            </a:solidFill>
            <a:prstDash val="solid"/>
          </a:ln>
        </p:spPr>
        <p:txBody>
          <a:bodyPr/>
          <a:lstStyle/>
          <a:p>
            <a:endParaRPr lang="en-US"/>
          </a:p>
        </p:txBody>
      </p:sp>
      <p:sp>
        <p:nvSpPr>
          <p:cNvPr id="5" name="Text 26"/>
          <p:cNvSpPr txBox="1"/>
          <p:nvPr/>
        </p:nvSpPr>
        <p:spPr>
          <a:xfrm>
            <a:off x="914400" y="3703320"/>
            <a:ext cx="54864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TARGET USER</a:t>
            </a:r>
            <a:endParaRPr lang="en-US" sz="1100" dirty="0"/>
          </a:p>
        </p:txBody>
      </p:sp>
      <p:sp>
        <p:nvSpPr>
          <p:cNvPr id="6" name="Text 27"/>
          <p:cNvSpPr txBox="1"/>
          <p:nvPr/>
        </p:nvSpPr>
        <p:spPr>
          <a:xfrm>
            <a:off x="914400" y="4069080"/>
            <a:ext cx="6583680" cy="1554480"/>
          </a:xfrm>
          <a:prstGeom prst="rect">
            <a:avLst/>
          </a:prstGeom>
          <a:noFill/>
          <a:ln/>
        </p:spPr>
        <p:txBody>
          <a:bodyPr wrap="square" lIns="0" tIns="0" rIns="0" bIns="0" rtlCol="0" anchor="t"/>
          <a:lstStyle/>
          <a:p>
            <a:pPr marL="0" indent="0">
              <a:buNone/>
            </a:pPr>
            <a:r>
              <a:rPr lang="en-US" sz="1800" dirty="0">
                <a:solidFill>
                  <a:schemeClr val="bg1"/>
                </a:solidFill>
              </a:rPr>
              <a:t>A first-year student living away from home on a fixed monthly allowance, who has never budgeted and runs short in the last week of the month.</a:t>
            </a:r>
            <a:endParaRPr lang="en-US" sz="1800" dirty="0"/>
          </a:p>
        </p:txBody>
      </p:sp>
      <p:sp>
        <p:nvSpPr>
          <p:cNvPr id="7" name="Card 28"/>
          <p:cNvSpPr/>
          <p:nvPr/>
        </p:nvSpPr>
        <p:spPr>
          <a:xfrm>
            <a:off x="8887968" y="1371600"/>
            <a:ext cx="2286000" cy="4754880"/>
          </a:xfrm>
          <a:prstGeom prst="roundRect">
            <a:avLst>
              <a:gd name="adj" fmla="val 4800"/>
            </a:avLst>
          </a:prstGeom>
          <a:solidFill>
            <a:schemeClr val="tx1"/>
          </a:solidFill>
          <a:ln w="12700">
            <a:solidFill>
              <a:schemeClr val="accent3"/>
            </a:solidFill>
            <a:prstDash val="solid"/>
          </a:ln>
        </p:spPr>
        <p:txBody>
          <a:bodyPr/>
          <a:lstStyle/>
          <a:p>
            <a:endParaRPr lang="en-US"/>
          </a:p>
        </p:txBody>
      </p:sp>
      <p:pic>
        <p:nvPicPr>
          <p:cNvPr id="8" name="Home screen" descr="Pocket Path home screen showing the safe-to-spend figure"/>
          <p:cNvPicPr>
            <a:picLocks noChangeAspect="1"/>
          </p:cNvPicPr>
          <p:nvPr/>
        </p:nvPicPr>
        <p:blipFill>
          <a:blip r:embed="rId3"/>
          <a:stretch>
            <a:fillRect/>
          </a:stretch>
        </p:blipFill>
        <p:spPr>
          <a:xfrm>
            <a:off x="8979408" y="1463040"/>
            <a:ext cx="2112264" cy="4572000"/>
          </a:xfrm>
          <a:prstGeom prst="rect">
            <a:avLst/>
          </a:prstGeom>
        </p:spPr>
      </p:pic>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How a student uses Pocket Path</a:t>
            </a:r>
            <a:endParaRPr lang="en-US" sz="3400" dirty="0"/>
          </a:p>
        </p:txBody>
      </p:sp>
      <p:sp>
        <p:nvSpPr>
          <p:cNvPr id="3" name="Text 29"/>
          <p:cNvSpPr txBox="1"/>
          <p:nvPr/>
        </p:nvSpPr>
        <p:spPr>
          <a:xfrm>
            <a:off x="640080" y="2788920"/>
            <a:ext cx="18288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STEP 1</a:t>
            </a:r>
            <a:endParaRPr lang="en-US" sz="1100" dirty="0"/>
          </a:p>
        </p:txBody>
      </p:sp>
      <p:sp>
        <p:nvSpPr>
          <p:cNvPr id="4" name="Card 30"/>
          <p:cNvSpPr/>
          <p:nvPr/>
        </p:nvSpPr>
        <p:spPr>
          <a:xfrm>
            <a:off x="640080" y="3108960"/>
            <a:ext cx="2286000" cy="1097280"/>
          </a:xfrm>
          <a:prstGeom prst="roundRect">
            <a:avLst>
              <a:gd name="adj" fmla="val 10000"/>
            </a:avLst>
          </a:prstGeom>
          <a:solidFill>
            <a:schemeClr val="tx2"/>
          </a:solidFill>
          <a:ln w="12700">
            <a:solidFill>
              <a:schemeClr val="accent3"/>
            </a:solidFill>
            <a:prstDash val="solid"/>
          </a:ln>
        </p:spPr>
        <p:txBody>
          <a:bodyPr/>
          <a:lstStyle/>
          <a:p>
            <a:endParaRPr lang="en-US"/>
          </a:p>
        </p:txBody>
      </p:sp>
      <p:sp>
        <p:nvSpPr>
          <p:cNvPr id="5" name="Text 31"/>
          <p:cNvSpPr txBox="1"/>
          <p:nvPr/>
        </p:nvSpPr>
        <p:spPr>
          <a:xfrm>
            <a:off x="731520" y="3108960"/>
            <a:ext cx="2103120" cy="1097280"/>
          </a:xfrm>
          <a:prstGeom prst="rect">
            <a:avLst/>
          </a:prstGeom>
          <a:noFill/>
          <a:ln/>
        </p:spPr>
        <p:txBody>
          <a:bodyPr wrap="square" lIns="0" tIns="0" rIns="0" bIns="0" rtlCol="0" anchor="ctr"/>
          <a:lstStyle/>
          <a:p>
            <a:pPr marL="0" indent="0" algn="ctr">
              <a:buNone/>
            </a:pPr>
            <a:r>
              <a:rPr lang="en-US" sz="1700" b="1" dirty="0">
                <a:solidFill>
                  <a:schemeClr val="bg1"/>
                </a:solidFill>
              </a:rPr>
              <a:t>Make a purchase</a:t>
            </a:r>
            <a:endParaRPr lang="en-US" sz="1600" dirty="0"/>
          </a:p>
          <a:p>
            <a:pPr marL="0" indent="0" algn="ctr">
              <a:buNone/>
            </a:pPr>
            <a:r>
              <a:rPr lang="en-US" sz="1300" dirty="0">
                <a:solidFill>
                  <a:schemeClr val="bg2"/>
                </a:solidFill>
              </a:rPr>
              <a:t>cash or card</a:t>
            </a:r>
            <a:endParaRPr lang="en-US" sz="1600" dirty="0"/>
          </a:p>
        </p:txBody>
      </p:sp>
      <p:sp>
        <p:nvSpPr>
          <p:cNvPr id="6" name="Arrow 32"/>
          <p:cNvSpPr/>
          <p:nvPr/>
        </p:nvSpPr>
        <p:spPr>
          <a:xfrm>
            <a:off x="2971800" y="3657600"/>
            <a:ext cx="365760" cy="0"/>
          </a:xfrm>
          <a:prstGeom prst="line">
            <a:avLst/>
          </a:prstGeom>
          <a:noFill/>
          <a:ln w="22225">
            <a:solidFill>
              <a:schemeClr val="accent2"/>
            </a:solidFill>
            <a:prstDash val="solid"/>
            <a:tailEnd type="triangle"/>
          </a:ln>
        </p:spPr>
        <p:txBody>
          <a:bodyPr/>
          <a:lstStyle/>
          <a:p>
            <a:endParaRPr lang="en-US"/>
          </a:p>
        </p:txBody>
      </p:sp>
      <p:sp>
        <p:nvSpPr>
          <p:cNvPr id="7" name="Text 33"/>
          <p:cNvSpPr txBox="1"/>
          <p:nvPr/>
        </p:nvSpPr>
        <p:spPr>
          <a:xfrm>
            <a:off x="3383280" y="2788920"/>
            <a:ext cx="18288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STEP 2</a:t>
            </a:r>
            <a:endParaRPr lang="en-US" sz="1100" dirty="0"/>
          </a:p>
        </p:txBody>
      </p:sp>
      <p:sp>
        <p:nvSpPr>
          <p:cNvPr id="8" name="Card 34"/>
          <p:cNvSpPr/>
          <p:nvPr/>
        </p:nvSpPr>
        <p:spPr>
          <a:xfrm>
            <a:off x="3383280" y="3108960"/>
            <a:ext cx="2286000" cy="1097280"/>
          </a:xfrm>
          <a:prstGeom prst="roundRect">
            <a:avLst>
              <a:gd name="adj" fmla="val 10000"/>
            </a:avLst>
          </a:prstGeom>
          <a:solidFill>
            <a:schemeClr val="tx2"/>
          </a:solidFill>
          <a:ln w="12700">
            <a:solidFill>
              <a:schemeClr val="accent3"/>
            </a:solidFill>
            <a:prstDash val="solid"/>
          </a:ln>
        </p:spPr>
        <p:txBody>
          <a:bodyPr/>
          <a:lstStyle/>
          <a:p>
            <a:endParaRPr lang="en-US"/>
          </a:p>
        </p:txBody>
      </p:sp>
      <p:sp>
        <p:nvSpPr>
          <p:cNvPr id="9" name="Text 35"/>
          <p:cNvSpPr txBox="1"/>
          <p:nvPr/>
        </p:nvSpPr>
        <p:spPr>
          <a:xfrm>
            <a:off x="3474720" y="3108960"/>
            <a:ext cx="2103120" cy="1097280"/>
          </a:xfrm>
          <a:prstGeom prst="rect">
            <a:avLst/>
          </a:prstGeom>
          <a:noFill/>
          <a:ln/>
        </p:spPr>
        <p:txBody>
          <a:bodyPr wrap="square" lIns="0" tIns="0" rIns="0" bIns="0" rtlCol="0" anchor="ctr"/>
          <a:lstStyle/>
          <a:p>
            <a:pPr marL="0" indent="0" algn="ctr">
              <a:buNone/>
            </a:pPr>
            <a:r>
              <a:rPr lang="en-US" sz="1700" b="1" dirty="0">
                <a:solidFill>
                  <a:schemeClr val="bg1"/>
                </a:solidFill>
              </a:rPr>
              <a:t>Open Quick add</a:t>
            </a:r>
            <a:endParaRPr lang="en-US" sz="1600" dirty="0"/>
          </a:p>
          <a:p>
            <a:pPr marL="0" indent="0" algn="ctr">
              <a:buNone/>
            </a:pPr>
            <a:r>
              <a:rPr lang="en-US" sz="1300" dirty="0">
                <a:solidFill>
                  <a:schemeClr val="bg2"/>
                </a:solidFill>
              </a:rPr>
              <a:t>amount + category</a:t>
            </a:r>
            <a:endParaRPr lang="en-US" sz="1600" dirty="0"/>
          </a:p>
        </p:txBody>
      </p:sp>
      <p:sp>
        <p:nvSpPr>
          <p:cNvPr id="10" name="Arrow 36"/>
          <p:cNvSpPr/>
          <p:nvPr/>
        </p:nvSpPr>
        <p:spPr>
          <a:xfrm>
            <a:off x="5715000" y="3657600"/>
            <a:ext cx="365760" cy="0"/>
          </a:xfrm>
          <a:prstGeom prst="line">
            <a:avLst/>
          </a:prstGeom>
          <a:noFill/>
          <a:ln w="22225">
            <a:solidFill>
              <a:schemeClr val="accent2"/>
            </a:solidFill>
            <a:prstDash val="solid"/>
            <a:tailEnd type="triangle"/>
          </a:ln>
        </p:spPr>
        <p:txBody>
          <a:bodyPr/>
          <a:lstStyle/>
          <a:p>
            <a:endParaRPr lang="en-US"/>
          </a:p>
        </p:txBody>
      </p:sp>
      <p:sp>
        <p:nvSpPr>
          <p:cNvPr id="11" name="Text 37"/>
          <p:cNvSpPr txBox="1"/>
          <p:nvPr/>
        </p:nvSpPr>
        <p:spPr>
          <a:xfrm>
            <a:off x="6126480" y="2788920"/>
            <a:ext cx="18288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STEP 3</a:t>
            </a:r>
            <a:endParaRPr lang="en-US" sz="1100" dirty="0"/>
          </a:p>
        </p:txBody>
      </p:sp>
      <p:sp>
        <p:nvSpPr>
          <p:cNvPr id="12" name="Card 38"/>
          <p:cNvSpPr/>
          <p:nvPr/>
        </p:nvSpPr>
        <p:spPr>
          <a:xfrm>
            <a:off x="6126480" y="3108960"/>
            <a:ext cx="2286000" cy="1097280"/>
          </a:xfrm>
          <a:prstGeom prst="roundRect">
            <a:avLst>
              <a:gd name="adj" fmla="val 10000"/>
            </a:avLst>
          </a:prstGeom>
          <a:solidFill>
            <a:schemeClr val="tx2"/>
          </a:solidFill>
          <a:ln w="12700">
            <a:solidFill>
              <a:schemeClr val="accent3"/>
            </a:solidFill>
            <a:prstDash val="solid"/>
          </a:ln>
        </p:spPr>
        <p:txBody>
          <a:bodyPr/>
          <a:lstStyle/>
          <a:p>
            <a:endParaRPr lang="en-US"/>
          </a:p>
        </p:txBody>
      </p:sp>
      <p:sp>
        <p:nvSpPr>
          <p:cNvPr id="13" name="Text 39"/>
          <p:cNvSpPr txBox="1"/>
          <p:nvPr/>
        </p:nvSpPr>
        <p:spPr>
          <a:xfrm>
            <a:off x="6217920" y="3108960"/>
            <a:ext cx="2103120" cy="1097280"/>
          </a:xfrm>
          <a:prstGeom prst="rect">
            <a:avLst/>
          </a:prstGeom>
          <a:noFill/>
          <a:ln/>
        </p:spPr>
        <p:txBody>
          <a:bodyPr wrap="square" lIns="0" tIns="0" rIns="0" bIns="0" rtlCol="0" anchor="ctr"/>
          <a:lstStyle/>
          <a:p>
            <a:pPr marL="0" indent="0" algn="ctr">
              <a:buNone/>
            </a:pPr>
            <a:r>
              <a:rPr lang="en-US" sz="1700" b="1" dirty="0">
                <a:solidFill>
                  <a:schemeClr val="bg1"/>
                </a:solidFill>
              </a:rPr>
              <a:t>Expense saved</a:t>
            </a:r>
            <a:endParaRPr lang="en-US" sz="1600" dirty="0"/>
          </a:p>
          <a:p>
            <a:pPr marL="0" indent="0" algn="ctr">
              <a:buNone/>
            </a:pPr>
            <a:r>
              <a:rPr lang="en-US" sz="1300" dirty="0">
                <a:solidFill>
                  <a:schemeClr val="bg2"/>
                </a:solidFill>
              </a:rPr>
              <a:t>stored on the phone</a:t>
            </a:r>
            <a:endParaRPr lang="en-US" sz="1600" dirty="0"/>
          </a:p>
        </p:txBody>
      </p:sp>
      <p:sp>
        <p:nvSpPr>
          <p:cNvPr id="14" name="Link 40"/>
          <p:cNvSpPr/>
          <p:nvPr/>
        </p:nvSpPr>
        <p:spPr>
          <a:xfrm>
            <a:off x="8412480" y="3657600"/>
            <a:ext cx="320040" cy="0"/>
          </a:xfrm>
          <a:prstGeom prst="line">
            <a:avLst/>
          </a:prstGeom>
          <a:noFill/>
          <a:ln w="22225">
            <a:solidFill>
              <a:schemeClr val="accent2"/>
            </a:solidFill>
            <a:prstDash val="solid"/>
          </a:ln>
        </p:spPr>
        <p:txBody>
          <a:bodyPr/>
          <a:lstStyle/>
          <a:p>
            <a:endParaRPr lang="en-US"/>
          </a:p>
        </p:txBody>
      </p:sp>
      <p:sp>
        <p:nvSpPr>
          <p:cNvPr id="15" name="Trunk 41"/>
          <p:cNvSpPr/>
          <p:nvPr/>
        </p:nvSpPr>
        <p:spPr>
          <a:xfrm>
            <a:off x="8732520" y="2468880"/>
            <a:ext cx="0" cy="2377440"/>
          </a:xfrm>
          <a:prstGeom prst="line">
            <a:avLst/>
          </a:prstGeom>
          <a:noFill/>
          <a:ln w="22225">
            <a:solidFill>
              <a:schemeClr val="accent2"/>
            </a:solidFill>
            <a:prstDash val="solid"/>
          </a:ln>
        </p:spPr>
        <p:txBody>
          <a:bodyPr/>
          <a:lstStyle/>
          <a:p>
            <a:endParaRPr lang="en-US"/>
          </a:p>
        </p:txBody>
      </p:sp>
      <p:sp>
        <p:nvSpPr>
          <p:cNvPr id="16" name="Text 42"/>
          <p:cNvSpPr txBox="1"/>
          <p:nvPr/>
        </p:nvSpPr>
        <p:spPr>
          <a:xfrm>
            <a:off x="9098280" y="1645920"/>
            <a:ext cx="246888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POCKET PATH UPDATES</a:t>
            </a:r>
            <a:endParaRPr lang="en-US" sz="1100" dirty="0"/>
          </a:p>
        </p:txBody>
      </p:sp>
      <p:sp>
        <p:nvSpPr>
          <p:cNvPr id="17" name="Arrow 43"/>
          <p:cNvSpPr/>
          <p:nvPr/>
        </p:nvSpPr>
        <p:spPr>
          <a:xfrm>
            <a:off x="8732520" y="2468880"/>
            <a:ext cx="320040" cy="0"/>
          </a:xfrm>
          <a:prstGeom prst="line">
            <a:avLst/>
          </a:prstGeom>
          <a:noFill/>
          <a:ln w="22225">
            <a:solidFill>
              <a:schemeClr val="accent2"/>
            </a:solidFill>
            <a:prstDash val="solid"/>
            <a:tailEnd type="triangle"/>
          </a:ln>
        </p:spPr>
        <p:txBody>
          <a:bodyPr/>
          <a:lstStyle/>
          <a:p>
            <a:endParaRPr lang="en-US"/>
          </a:p>
        </p:txBody>
      </p:sp>
      <p:sp>
        <p:nvSpPr>
          <p:cNvPr id="18" name="Card 44"/>
          <p:cNvSpPr/>
          <p:nvPr/>
        </p:nvSpPr>
        <p:spPr>
          <a:xfrm>
            <a:off x="9098280" y="2011680"/>
            <a:ext cx="2450592" cy="9144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19" name="Text 45"/>
          <p:cNvSpPr txBox="1"/>
          <p:nvPr/>
        </p:nvSpPr>
        <p:spPr>
          <a:xfrm>
            <a:off x="9189720" y="2011680"/>
            <a:ext cx="2267712" cy="914400"/>
          </a:xfrm>
          <a:prstGeom prst="rect">
            <a:avLst/>
          </a:prstGeom>
          <a:noFill/>
          <a:ln/>
        </p:spPr>
        <p:txBody>
          <a:bodyPr wrap="square" lIns="0" tIns="0" rIns="0" bIns="0" rtlCol="0" anchor="ctr"/>
          <a:lstStyle/>
          <a:p>
            <a:pPr marL="0" indent="0" algn="ctr">
              <a:buNone/>
            </a:pPr>
            <a:r>
              <a:rPr lang="en-US" sz="1700" b="1" dirty="0">
                <a:solidFill>
                  <a:schemeClr val="tx1"/>
                </a:solidFill>
              </a:rPr>
              <a:t>Home</a:t>
            </a:r>
            <a:endParaRPr lang="en-US" sz="1600" dirty="0"/>
          </a:p>
          <a:p>
            <a:pPr marL="0" indent="0" algn="ctr">
              <a:buNone/>
            </a:pPr>
            <a:r>
              <a:rPr lang="en-US" sz="1300" dirty="0">
                <a:solidFill>
                  <a:schemeClr val="tx1"/>
                </a:solidFill>
              </a:rPr>
              <a:t>safe to spend today</a:t>
            </a:r>
            <a:endParaRPr lang="en-US" sz="1600" dirty="0"/>
          </a:p>
        </p:txBody>
      </p:sp>
      <p:sp>
        <p:nvSpPr>
          <p:cNvPr id="20" name="Arrow 46"/>
          <p:cNvSpPr/>
          <p:nvPr/>
        </p:nvSpPr>
        <p:spPr>
          <a:xfrm>
            <a:off x="8732520" y="3657600"/>
            <a:ext cx="320040" cy="0"/>
          </a:xfrm>
          <a:prstGeom prst="line">
            <a:avLst/>
          </a:prstGeom>
          <a:noFill/>
          <a:ln w="22225">
            <a:solidFill>
              <a:schemeClr val="accent2"/>
            </a:solidFill>
            <a:prstDash val="solid"/>
            <a:tailEnd type="triangle"/>
          </a:ln>
        </p:spPr>
        <p:txBody>
          <a:bodyPr/>
          <a:lstStyle/>
          <a:p>
            <a:endParaRPr lang="en-US"/>
          </a:p>
        </p:txBody>
      </p:sp>
      <p:sp>
        <p:nvSpPr>
          <p:cNvPr id="21" name="Card 47"/>
          <p:cNvSpPr/>
          <p:nvPr/>
        </p:nvSpPr>
        <p:spPr>
          <a:xfrm>
            <a:off x="9098280" y="3200400"/>
            <a:ext cx="2450592" cy="914400"/>
          </a:xfrm>
          <a:prstGeom prst="roundRect">
            <a:avLst>
              <a:gd name="adj" fmla="val 12000"/>
            </a:avLst>
          </a:prstGeom>
          <a:solidFill>
            <a:schemeClr val="tx2"/>
          </a:solidFill>
          <a:ln w="12700">
            <a:solidFill>
              <a:schemeClr val="accent3"/>
            </a:solidFill>
            <a:prstDash val="solid"/>
          </a:ln>
        </p:spPr>
        <p:txBody>
          <a:bodyPr/>
          <a:lstStyle/>
          <a:p>
            <a:endParaRPr lang="en-US"/>
          </a:p>
        </p:txBody>
      </p:sp>
      <p:sp>
        <p:nvSpPr>
          <p:cNvPr id="22" name="Text 48"/>
          <p:cNvSpPr txBox="1"/>
          <p:nvPr/>
        </p:nvSpPr>
        <p:spPr>
          <a:xfrm>
            <a:off x="9189720" y="3200400"/>
            <a:ext cx="2267712" cy="914400"/>
          </a:xfrm>
          <a:prstGeom prst="rect">
            <a:avLst/>
          </a:prstGeom>
          <a:noFill/>
          <a:ln/>
        </p:spPr>
        <p:txBody>
          <a:bodyPr wrap="square" lIns="0" tIns="0" rIns="0" bIns="0" rtlCol="0" anchor="ctr"/>
          <a:lstStyle/>
          <a:p>
            <a:pPr marL="0" indent="0" algn="ctr">
              <a:buNone/>
            </a:pPr>
            <a:r>
              <a:rPr lang="en-US" sz="1700" b="1" dirty="0">
                <a:solidFill>
                  <a:schemeClr val="bg1"/>
                </a:solidFill>
              </a:rPr>
              <a:t>Insights</a:t>
            </a:r>
            <a:endParaRPr lang="en-US" sz="1600" dirty="0"/>
          </a:p>
          <a:p>
            <a:pPr marL="0" indent="0" algn="ctr">
              <a:buNone/>
            </a:pPr>
            <a:r>
              <a:rPr lang="en-US" sz="1300" dirty="0">
                <a:solidFill>
                  <a:schemeClr val="bg2"/>
                </a:solidFill>
              </a:rPr>
              <a:t>totals by category</a:t>
            </a:r>
            <a:endParaRPr lang="en-US" sz="1600" dirty="0"/>
          </a:p>
        </p:txBody>
      </p:sp>
      <p:sp>
        <p:nvSpPr>
          <p:cNvPr id="23" name="Arrow 49"/>
          <p:cNvSpPr/>
          <p:nvPr/>
        </p:nvSpPr>
        <p:spPr>
          <a:xfrm>
            <a:off x="8732520" y="4846320"/>
            <a:ext cx="320040" cy="0"/>
          </a:xfrm>
          <a:prstGeom prst="line">
            <a:avLst/>
          </a:prstGeom>
          <a:noFill/>
          <a:ln w="22225">
            <a:solidFill>
              <a:schemeClr val="accent2"/>
            </a:solidFill>
            <a:prstDash val="solid"/>
            <a:tailEnd type="triangle"/>
          </a:ln>
        </p:spPr>
        <p:txBody>
          <a:bodyPr/>
          <a:lstStyle/>
          <a:p>
            <a:endParaRPr lang="en-US"/>
          </a:p>
        </p:txBody>
      </p:sp>
      <p:sp>
        <p:nvSpPr>
          <p:cNvPr id="24" name="Card 50"/>
          <p:cNvSpPr/>
          <p:nvPr/>
        </p:nvSpPr>
        <p:spPr>
          <a:xfrm>
            <a:off x="9098280" y="4389120"/>
            <a:ext cx="2450592" cy="914400"/>
          </a:xfrm>
          <a:prstGeom prst="roundRect">
            <a:avLst>
              <a:gd name="adj" fmla="val 12000"/>
            </a:avLst>
          </a:prstGeom>
          <a:solidFill>
            <a:schemeClr val="tx2"/>
          </a:solidFill>
          <a:ln w="12700">
            <a:solidFill>
              <a:schemeClr val="accent3"/>
            </a:solidFill>
            <a:prstDash val="solid"/>
          </a:ln>
        </p:spPr>
        <p:txBody>
          <a:bodyPr/>
          <a:lstStyle/>
          <a:p>
            <a:endParaRPr lang="en-US"/>
          </a:p>
        </p:txBody>
      </p:sp>
      <p:sp>
        <p:nvSpPr>
          <p:cNvPr id="25" name="Text 51"/>
          <p:cNvSpPr txBox="1"/>
          <p:nvPr/>
        </p:nvSpPr>
        <p:spPr>
          <a:xfrm>
            <a:off x="9189720" y="4389120"/>
            <a:ext cx="2267712" cy="914400"/>
          </a:xfrm>
          <a:prstGeom prst="rect">
            <a:avLst/>
          </a:prstGeom>
          <a:noFill/>
          <a:ln/>
        </p:spPr>
        <p:txBody>
          <a:bodyPr wrap="square" lIns="0" tIns="0" rIns="0" bIns="0" rtlCol="0" anchor="ctr"/>
          <a:lstStyle/>
          <a:p>
            <a:pPr marL="0" indent="0" algn="ctr">
              <a:buNone/>
            </a:pPr>
            <a:r>
              <a:rPr lang="en-US" sz="1700" b="1" dirty="0">
                <a:solidFill>
                  <a:schemeClr val="bg1"/>
                </a:solidFill>
              </a:rPr>
              <a:t>Budgets</a:t>
            </a:r>
            <a:endParaRPr lang="en-US" sz="1600" dirty="0"/>
          </a:p>
          <a:p>
            <a:pPr marL="0" indent="0" algn="ctr">
              <a:buNone/>
            </a:pPr>
            <a:r>
              <a:rPr lang="en-US" sz="1300" dirty="0">
                <a:solidFill>
                  <a:schemeClr val="bg2"/>
                </a:solidFill>
              </a:rPr>
              <a:t>warning near the limit</a:t>
            </a:r>
            <a:endParaRPr lang="en-US" sz="1600" dirty="0"/>
          </a:p>
        </p:txBody>
      </p:sp>
      <p:sp>
        <p:nvSpPr>
          <p:cNvPr id="26"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The features</a:t>
            </a:r>
            <a:endParaRPr lang="en-US" sz="3400" dirty="0"/>
          </a:p>
        </p:txBody>
      </p:sp>
      <p:sp>
        <p:nvSpPr>
          <p:cNvPr id="3" name="Card 52"/>
          <p:cNvSpPr/>
          <p:nvPr/>
        </p:nvSpPr>
        <p:spPr>
          <a:xfrm>
            <a:off x="640080" y="1554480"/>
            <a:ext cx="3447288" cy="4480560"/>
          </a:xfrm>
          <a:prstGeom prst="roundRect">
            <a:avLst>
              <a:gd name="adj" fmla="val 3183"/>
            </a:avLst>
          </a:prstGeom>
          <a:solidFill>
            <a:schemeClr val="tx2"/>
          </a:solidFill>
          <a:ln w="12700">
            <a:solidFill>
              <a:schemeClr val="accent3"/>
            </a:solidFill>
            <a:prstDash val="solid"/>
          </a:ln>
        </p:spPr>
        <p:txBody>
          <a:bodyPr/>
          <a:lstStyle/>
          <a:p>
            <a:endParaRPr lang="en-US"/>
          </a:p>
        </p:txBody>
      </p:sp>
      <p:sp>
        <p:nvSpPr>
          <p:cNvPr id="4" name="Text 53"/>
          <p:cNvSpPr txBox="1"/>
          <p:nvPr/>
        </p:nvSpPr>
        <p:spPr>
          <a:xfrm>
            <a:off x="914400" y="1810512"/>
            <a:ext cx="292608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UNDERSTAND</a:t>
            </a:r>
            <a:endParaRPr lang="en-US" sz="1100" dirty="0"/>
          </a:p>
        </p:txBody>
      </p:sp>
      <p:sp>
        <p:nvSpPr>
          <p:cNvPr id="5" name="Text 54"/>
          <p:cNvSpPr txBox="1"/>
          <p:nvPr/>
        </p:nvSpPr>
        <p:spPr>
          <a:xfrm>
            <a:off x="914400" y="2103120"/>
            <a:ext cx="2926080" cy="365760"/>
          </a:xfrm>
          <a:prstGeom prst="rect">
            <a:avLst/>
          </a:prstGeom>
          <a:noFill/>
          <a:ln/>
        </p:spPr>
        <p:txBody>
          <a:bodyPr wrap="square" lIns="0" tIns="0" rIns="0" bIns="0" rtlCol="0" anchor="t"/>
          <a:lstStyle/>
          <a:p>
            <a:pPr marL="0" indent="0">
              <a:buNone/>
            </a:pPr>
            <a:r>
              <a:rPr lang="en-US" sz="1400" i="1" dirty="0">
                <a:solidFill>
                  <a:schemeClr val="bg2"/>
                </a:solidFill>
              </a:rPr>
              <a:t>Where does my money go?</a:t>
            </a:r>
            <a:endParaRPr lang="en-US" sz="1400" dirty="0"/>
          </a:p>
        </p:txBody>
      </p:sp>
      <p:sp>
        <p:nvSpPr>
          <p:cNvPr id="6" name="Text 55"/>
          <p:cNvSpPr txBox="1"/>
          <p:nvPr/>
        </p:nvSpPr>
        <p:spPr>
          <a:xfrm>
            <a:off x="914400" y="2697480"/>
            <a:ext cx="2926080" cy="365760"/>
          </a:xfrm>
          <a:prstGeom prst="rect">
            <a:avLst/>
          </a:prstGeom>
          <a:noFill/>
          <a:ln/>
        </p:spPr>
        <p:txBody>
          <a:bodyPr wrap="square" lIns="0" tIns="0" rIns="0" bIns="0" rtlCol="0" anchor="t"/>
          <a:lstStyle/>
          <a:p>
            <a:pPr marL="0" indent="0">
              <a:buNone/>
            </a:pPr>
            <a:r>
              <a:rPr lang="en-US" sz="1900" b="1" dirty="0">
                <a:solidFill>
                  <a:schemeClr val="bg1"/>
                </a:solidFill>
              </a:rPr>
              <a:t>Quick add</a:t>
            </a:r>
            <a:endParaRPr lang="en-US" sz="1900" dirty="0"/>
          </a:p>
        </p:txBody>
      </p:sp>
      <p:sp>
        <p:nvSpPr>
          <p:cNvPr id="7" name="Text 56"/>
          <p:cNvSpPr txBox="1"/>
          <p:nvPr/>
        </p:nvSpPr>
        <p:spPr>
          <a:xfrm>
            <a:off x="914400" y="3108960"/>
            <a:ext cx="2926080" cy="1005840"/>
          </a:xfrm>
          <a:prstGeom prst="rect">
            <a:avLst/>
          </a:prstGeom>
          <a:noFill/>
          <a:ln/>
        </p:spPr>
        <p:txBody>
          <a:bodyPr wrap="square" lIns="0" tIns="0" rIns="0" bIns="0" rtlCol="0" anchor="t"/>
          <a:lstStyle/>
          <a:p>
            <a:pPr marL="0" indent="0">
              <a:buNone/>
            </a:pPr>
            <a:r>
              <a:rPr lang="en-US" sz="1500" dirty="0">
                <a:solidFill>
                  <a:schemeClr val="bg2"/>
                </a:solidFill>
              </a:rPr>
              <a:t>Amount, one tap on a category, done. Works for cash too.</a:t>
            </a:r>
            <a:endParaRPr lang="en-US" sz="1500" dirty="0"/>
          </a:p>
        </p:txBody>
      </p:sp>
      <p:sp>
        <p:nvSpPr>
          <p:cNvPr id="8" name="Text 57"/>
          <p:cNvSpPr txBox="1"/>
          <p:nvPr/>
        </p:nvSpPr>
        <p:spPr>
          <a:xfrm>
            <a:off x="914400" y="4297680"/>
            <a:ext cx="2926080" cy="365760"/>
          </a:xfrm>
          <a:prstGeom prst="rect">
            <a:avLst/>
          </a:prstGeom>
          <a:noFill/>
          <a:ln/>
        </p:spPr>
        <p:txBody>
          <a:bodyPr wrap="square" lIns="0" tIns="0" rIns="0" bIns="0" rtlCol="0" anchor="t"/>
          <a:lstStyle/>
          <a:p>
            <a:pPr marL="0" indent="0">
              <a:buNone/>
            </a:pPr>
            <a:r>
              <a:rPr lang="en-US" sz="1900" b="1" dirty="0">
                <a:solidFill>
                  <a:schemeClr val="bg1"/>
                </a:solidFill>
              </a:rPr>
              <a:t>Small-stuff insights</a:t>
            </a:r>
            <a:endParaRPr lang="en-US" sz="1900" dirty="0"/>
          </a:p>
        </p:txBody>
      </p:sp>
      <p:sp>
        <p:nvSpPr>
          <p:cNvPr id="9" name="Text 58"/>
          <p:cNvSpPr txBox="1"/>
          <p:nvPr/>
        </p:nvSpPr>
        <p:spPr>
          <a:xfrm>
            <a:off x="914400" y="4709160"/>
            <a:ext cx="2926080" cy="1005840"/>
          </a:xfrm>
          <a:prstGeom prst="rect">
            <a:avLst/>
          </a:prstGeom>
          <a:noFill/>
          <a:ln/>
        </p:spPr>
        <p:txBody>
          <a:bodyPr wrap="square" lIns="0" tIns="0" rIns="0" bIns="0" rtlCol="0" anchor="t"/>
          <a:lstStyle/>
          <a:p>
            <a:pPr marL="0" indent="0">
              <a:buNone/>
            </a:pPr>
            <a:r>
              <a:rPr lang="en-US" sz="1500" dirty="0">
                <a:solidFill>
                  <a:schemeClr val="bg2"/>
                </a:solidFill>
              </a:rPr>
              <a:t>Scattered purchases become one clear total per habit.</a:t>
            </a:r>
            <a:endParaRPr lang="en-US" sz="1500" dirty="0"/>
          </a:p>
        </p:txBody>
      </p:sp>
      <p:sp>
        <p:nvSpPr>
          <p:cNvPr id="10" name="Card 59"/>
          <p:cNvSpPr/>
          <p:nvPr/>
        </p:nvSpPr>
        <p:spPr>
          <a:xfrm>
            <a:off x="4361688" y="1554480"/>
            <a:ext cx="3447288" cy="4480560"/>
          </a:xfrm>
          <a:prstGeom prst="roundRect">
            <a:avLst>
              <a:gd name="adj" fmla="val 3183"/>
            </a:avLst>
          </a:prstGeom>
          <a:solidFill>
            <a:schemeClr val="tx2"/>
          </a:solidFill>
          <a:ln w="12700">
            <a:solidFill>
              <a:schemeClr val="accent3"/>
            </a:solidFill>
            <a:prstDash val="solid"/>
          </a:ln>
        </p:spPr>
        <p:txBody>
          <a:bodyPr/>
          <a:lstStyle/>
          <a:p>
            <a:endParaRPr lang="en-US"/>
          </a:p>
        </p:txBody>
      </p:sp>
      <p:sp>
        <p:nvSpPr>
          <p:cNvPr id="11" name="Text 60"/>
          <p:cNvSpPr txBox="1"/>
          <p:nvPr/>
        </p:nvSpPr>
        <p:spPr>
          <a:xfrm>
            <a:off x="4636008" y="1810512"/>
            <a:ext cx="292608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CONTROL</a:t>
            </a:r>
            <a:endParaRPr lang="en-US" sz="1100" dirty="0"/>
          </a:p>
        </p:txBody>
      </p:sp>
      <p:sp>
        <p:nvSpPr>
          <p:cNvPr id="12" name="Text 61"/>
          <p:cNvSpPr txBox="1"/>
          <p:nvPr/>
        </p:nvSpPr>
        <p:spPr>
          <a:xfrm>
            <a:off x="4636008" y="2103120"/>
            <a:ext cx="2926080" cy="365760"/>
          </a:xfrm>
          <a:prstGeom prst="rect">
            <a:avLst/>
          </a:prstGeom>
          <a:noFill/>
          <a:ln/>
        </p:spPr>
        <p:txBody>
          <a:bodyPr wrap="square" lIns="0" tIns="0" rIns="0" bIns="0" rtlCol="0" anchor="t"/>
          <a:lstStyle/>
          <a:p>
            <a:pPr marL="0" indent="0">
              <a:buNone/>
            </a:pPr>
            <a:r>
              <a:rPr lang="en-US" sz="1400" i="1" dirty="0">
                <a:solidFill>
                  <a:schemeClr val="bg2"/>
                </a:solidFill>
              </a:rPr>
              <a:t>How much can I spend?</a:t>
            </a:r>
            <a:endParaRPr lang="en-US" sz="1400" dirty="0"/>
          </a:p>
        </p:txBody>
      </p:sp>
      <p:sp>
        <p:nvSpPr>
          <p:cNvPr id="13" name="Text 62"/>
          <p:cNvSpPr txBox="1"/>
          <p:nvPr/>
        </p:nvSpPr>
        <p:spPr>
          <a:xfrm>
            <a:off x="4636008" y="2697480"/>
            <a:ext cx="2926080" cy="365760"/>
          </a:xfrm>
          <a:prstGeom prst="rect">
            <a:avLst/>
          </a:prstGeom>
          <a:noFill/>
          <a:ln/>
        </p:spPr>
        <p:txBody>
          <a:bodyPr wrap="square" lIns="0" tIns="0" rIns="0" bIns="0" rtlCol="0" anchor="t"/>
          <a:lstStyle/>
          <a:p>
            <a:pPr marL="0" indent="0">
              <a:buNone/>
            </a:pPr>
            <a:r>
              <a:rPr lang="en-US" sz="1900" b="1" dirty="0">
                <a:solidFill>
                  <a:schemeClr val="bg1"/>
                </a:solidFill>
              </a:rPr>
              <a:t>Safe to spend today</a:t>
            </a:r>
            <a:endParaRPr lang="en-US" sz="1900" dirty="0"/>
          </a:p>
        </p:txBody>
      </p:sp>
      <p:sp>
        <p:nvSpPr>
          <p:cNvPr id="14" name="Text 63"/>
          <p:cNvSpPr txBox="1"/>
          <p:nvPr/>
        </p:nvSpPr>
        <p:spPr>
          <a:xfrm>
            <a:off x="4636008" y="3108960"/>
            <a:ext cx="2926080" cy="1005840"/>
          </a:xfrm>
          <a:prstGeom prst="rect">
            <a:avLst/>
          </a:prstGeom>
          <a:noFill/>
          <a:ln/>
        </p:spPr>
        <p:txBody>
          <a:bodyPr wrap="square" lIns="0" tIns="0" rIns="0" bIns="0" rtlCol="0" anchor="t"/>
          <a:lstStyle/>
          <a:p>
            <a:pPr marL="0" indent="0">
              <a:buNone/>
            </a:pPr>
            <a:r>
              <a:rPr lang="en-US" sz="1500" dirty="0">
                <a:solidFill>
                  <a:schemeClr val="bg2"/>
                </a:solidFill>
              </a:rPr>
              <a:t>One daily figure that updates with every purchase.</a:t>
            </a:r>
            <a:endParaRPr lang="en-US" sz="1500" dirty="0"/>
          </a:p>
        </p:txBody>
      </p:sp>
      <p:sp>
        <p:nvSpPr>
          <p:cNvPr id="15" name="Text 64"/>
          <p:cNvSpPr txBox="1"/>
          <p:nvPr/>
        </p:nvSpPr>
        <p:spPr>
          <a:xfrm>
            <a:off x="4636008" y="4297680"/>
            <a:ext cx="2926080" cy="365760"/>
          </a:xfrm>
          <a:prstGeom prst="rect">
            <a:avLst/>
          </a:prstGeom>
          <a:noFill/>
          <a:ln/>
        </p:spPr>
        <p:txBody>
          <a:bodyPr wrap="square" lIns="0" tIns="0" rIns="0" bIns="0" rtlCol="0" anchor="t"/>
          <a:lstStyle/>
          <a:p>
            <a:pPr marL="0" indent="0">
              <a:buNone/>
            </a:pPr>
            <a:r>
              <a:rPr lang="en-US" sz="1900" b="1" dirty="0">
                <a:solidFill>
                  <a:schemeClr val="bg1"/>
                </a:solidFill>
              </a:rPr>
              <a:t>Category budgets</a:t>
            </a:r>
            <a:endParaRPr lang="en-US" sz="1900" dirty="0"/>
          </a:p>
        </p:txBody>
      </p:sp>
      <p:sp>
        <p:nvSpPr>
          <p:cNvPr id="16" name="Text 65"/>
          <p:cNvSpPr txBox="1"/>
          <p:nvPr/>
        </p:nvSpPr>
        <p:spPr>
          <a:xfrm>
            <a:off x="4636008" y="4709160"/>
            <a:ext cx="2926080" cy="1005840"/>
          </a:xfrm>
          <a:prstGeom prst="rect">
            <a:avLst/>
          </a:prstGeom>
          <a:noFill/>
          <a:ln/>
        </p:spPr>
        <p:txBody>
          <a:bodyPr wrap="square" lIns="0" tIns="0" rIns="0" bIns="0" rtlCol="0" anchor="t"/>
          <a:lstStyle/>
          <a:p>
            <a:pPr marL="0" indent="0">
              <a:buNone/>
            </a:pPr>
            <a:r>
              <a:rPr lang="en-US" sz="1500" dirty="0">
                <a:solidFill>
                  <a:schemeClr val="bg2"/>
                </a:solidFill>
              </a:rPr>
              <a:t>Monthly limits with a warning as you get close.</a:t>
            </a:r>
            <a:endParaRPr lang="en-US" sz="1500" dirty="0"/>
          </a:p>
        </p:txBody>
      </p:sp>
      <p:sp>
        <p:nvSpPr>
          <p:cNvPr id="17" name="Card 66"/>
          <p:cNvSpPr/>
          <p:nvPr/>
        </p:nvSpPr>
        <p:spPr>
          <a:xfrm>
            <a:off x="8083296" y="1554480"/>
            <a:ext cx="3447288" cy="4480560"/>
          </a:xfrm>
          <a:prstGeom prst="roundRect">
            <a:avLst>
              <a:gd name="adj" fmla="val 3183"/>
            </a:avLst>
          </a:prstGeom>
          <a:solidFill>
            <a:schemeClr val="tx2"/>
          </a:solidFill>
          <a:ln w="12700">
            <a:solidFill>
              <a:schemeClr val="accent3"/>
            </a:solidFill>
            <a:prstDash val="solid"/>
          </a:ln>
        </p:spPr>
        <p:txBody>
          <a:bodyPr/>
          <a:lstStyle/>
          <a:p>
            <a:endParaRPr lang="en-US"/>
          </a:p>
        </p:txBody>
      </p:sp>
      <p:sp>
        <p:nvSpPr>
          <p:cNvPr id="18" name="Text 67"/>
          <p:cNvSpPr txBox="1"/>
          <p:nvPr/>
        </p:nvSpPr>
        <p:spPr>
          <a:xfrm>
            <a:off x="8357616" y="1810512"/>
            <a:ext cx="292608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MANAGE</a:t>
            </a:r>
            <a:endParaRPr lang="en-US" sz="1100" dirty="0"/>
          </a:p>
        </p:txBody>
      </p:sp>
      <p:sp>
        <p:nvSpPr>
          <p:cNvPr id="19" name="Text 68"/>
          <p:cNvSpPr txBox="1"/>
          <p:nvPr/>
        </p:nvSpPr>
        <p:spPr>
          <a:xfrm>
            <a:off x="8357616" y="2103120"/>
            <a:ext cx="2926080" cy="365760"/>
          </a:xfrm>
          <a:prstGeom prst="rect">
            <a:avLst/>
          </a:prstGeom>
          <a:noFill/>
          <a:ln/>
        </p:spPr>
        <p:txBody>
          <a:bodyPr wrap="square" lIns="0" tIns="0" rIns="0" bIns="0" rtlCol="0" anchor="t"/>
          <a:lstStyle/>
          <a:p>
            <a:pPr marL="0" indent="0">
              <a:buNone/>
            </a:pPr>
            <a:r>
              <a:rPr lang="en-US" sz="1400" i="1" dirty="0">
                <a:solidFill>
                  <a:schemeClr val="bg2"/>
                </a:solidFill>
              </a:rPr>
              <a:t>What keeps recurring?</a:t>
            </a:r>
            <a:endParaRPr lang="en-US" sz="1400" dirty="0"/>
          </a:p>
        </p:txBody>
      </p:sp>
      <p:sp>
        <p:nvSpPr>
          <p:cNvPr id="20" name="Text 69"/>
          <p:cNvSpPr txBox="1"/>
          <p:nvPr/>
        </p:nvSpPr>
        <p:spPr>
          <a:xfrm>
            <a:off x="8357616" y="2697480"/>
            <a:ext cx="2926080" cy="365760"/>
          </a:xfrm>
          <a:prstGeom prst="rect">
            <a:avLst/>
          </a:prstGeom>
          <a:noFill/>
          <a:ln/>
        </p:spPr>
        <p:txBody>
          <a:bodyPr wrap="square" lIns="0" tIns="0" rIns="0" bIns="0" rtlCol="0" anchor="t"/>
          <a:lstStyle/>
          <a:p>
            <a:pPr marL="0" indent="0">
              <a:buNone/>
            </a:pPr>
            <a:r>
              <a:rPr lang="en-US" sz="1900" b="1" dirty="0">
                <a:solidFill>
                  <a:schemeClr val="bg1"/>
                </a:solidFill>
              </a:rPr>
              <a:t>Subscription tracker</a:t>
            </a:r>
            <a:endParaRPr lang="en-US" sz="1900" dirty="0"/>
          </a:p>
        </p:txBody>
      </p:sp>
      <p:sp>
        <p:nvSpPr>
          <p:cNvPr id="21" name="Text 70"/>
          <p:cNvSpPr txBox="1"/>
          <p:nvPr/>
        </p:nvSpPr>
        <p:spPr>
          <a:xfrm>
            <a:off x="8357616" y="3108960"/>
            <a:ext cx="2926080" cy="1005840"/>
          </a:xfrm>
          <a:prstGeom prst="rect">
            <a:avLst/>
          </a:prstGeom>
          <a:noFill/>
          <a:ln/>
        </p:spPr>
        <p:txBody>
          <a:bodyPr wrap="square" lIns="0" tIns="0" rIns="0" bIns="0" rtlCol="0" anchor="t"/>
          <a:lstStyle/>
          <a:p>
            <a:pPr marL="0" indent="0">
              <a:buNone/>
            </a:pPr>
            <a:r>
              <a:rPr lang="en-US" sz="1500" dirty="0">
                <a:solidFill>
                  <a:schemeClr val="bg2"/>
                </a:solidFill>
              </a:rPr>
              <a:t>Every recurring payment, its next billing date and the monthly total in one list.</a:t>
            </a:r>
            <a:endParaRPr lang="en-US" sz="1500" dirty="0"/>
          </a:p>
        </p:txBody>
      </p:sp>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How the safe-to-spend figure is calculated</a:t>
            </a:r>
            <a:endParaRPr lang="en-US" sz="3400" dirty="0"/>
          </a:p>
        </p:txBody>
      </p:sp>
      <p:sp>
        <p:nvSpPr>
          <p:cNvPr id="3" name="Card 71"/>
          <p:cNvSpPr/>
          <p:nvPr/>
        </p:nvSpPr>
        <p:spPr>
          <a:xfrm>
            <a:off x="640080" y="2286000"/>
            <a:ext cx="1764792" cy="1828800"/>
          </a:xfrm>
          <a:prstGeom prst="roundRect">
            <a:avLst>
              <a:gd name="adj" fmla="val 6218"/>
            </a:avLst>
          </a:prstGeom>
          <a:solidFill>
            <a:schemeClr val="tx2"/>
          </a:solidFill>
          <a:ln w="12700">
            <a:solidFill>
              <a:schemeClr val="accent3"/>
            </a:solidFill>
            <a:prstDash val="solid"/>
          </a:ln>
        </p:spPr>
        <p:txBody>
          <a:bodyPr/>
          <a:lstStyle/>
          <a:p>
            <a:endParaRPr lang="en-US"/>
          </a:p>
        </p:txBody>
      </p:sp>
      <p:sp>
        <p:nvSpPr>
          <p:cNvPr id="4" name="Text 72"/>
          <p:cNvSpPr txBox="1"/>
          <p:nvPr/>
        </p:nvSpPr>
        <p:spPr>
          <a:xfrm>
            <a:off x="731520" y="2514600"/>
            <a:ext cx="1581912" cy="365760"/>
          </a:xfrm>
          <a:prstGeom prst="rect">
            <a:avLst/>
          </a:prstGeom>
          <a:noFill/>
          <a:ln/>
        </p:spPr>
        <p:txBody>
          <a:bodyPr wrap="square" lIns="0" tIns="0" rIns="0" bIns="0" rtlCol="0" anchor="t"/>
          <a:lstStyle/>
          <a:p>
            <a:pPr marL="0" indent="0" algn="ctr">
              <a:buNone/>
            </a:pPr>
            <a:r>
              <a:rPr lang="en-US" sz="1300" dirty="0">
                <a:solidFill>
                  <a:schemeClr val="bg2"/>
                </a:solidFill>
              </a:rPr>
              <a:t>Monthly allowance</a:t>
            </a:r>
            <a:endParaRPr lang="en-US" sz="1300" dirty="0"/>
          </a:p>
        </p:txBody>
      </p:sp>
      <p:sp>
        <p:nvSpPr>
          <p:cNvPr id="5" name="Text 73"/>
          <p:cNvSpPr txBox="1"/>
          <p:nvPr/>
        </p:nvSpPr>
        <p:spPr>
          <a:xfrm>
            <a:off x="731520" y="3017520"/>
            <a:ext cx="1581912" cy="731520"/>
          </a:xfrm>
          <a:prstGeom prst="rect">
            <a:avLst/>
          </a:prstGeom>
          <a:noFill/>
          <a:ln/>
        </p:spPr>
        <p:txBody>
          <a:bodyPr wrap="square" lIns="0" tIns="0" rIns="0" bIns="0" rtlCol="0" anchor="ctr"/>
          <a:lstStyle/>
          <a:p>
            <a:pPr marL="0" indent="0" algn="ctr">
              <a:buNone/>
            </a:pPr>
            <a:r>
              <a:rPr lang="en-US" sz="3400" b="1" dirty="0">
                <a:solidFill>
                  <a:schemeClr val="bg1"/>
                </a:solidFill>
              </a:rPr>
              <a:t>30,000</a:t>
            </a:r>
            <a:endParaRPr lang="en-US" sz="3400" dirty="0"/>
          </a:p>
        </p:txBody>
      </p:sp>
      <p:sp>
        <p:nvSpPr>
          <p:cNvPr id="6" name="Text 74"/>
          <p:cNvSpPr txBox="1"/>
          <p:nvPr/>
        </p:nvSpPr>
        <p:spPr>
          <a:xfrm>
            <a:off x="2404872" y="2834640"/>
            <a:ext cx="521208" cy="731520"/>
          </a:xfrm>
          <a:prstGeom prst="rect">
            <a:avLst/>
          </a:prstGeom>
          <a:noFill/>
          <a:ln/>
        </p:spPr>
        <p:txBody>
          <a:bodyPr wrap="square" lIns="0" tIns="0" rIns="0" bIns="0" rtlCol="0" anchor="ctr"/>
          <a:lstStyle/>
          <a:p>
            <a:pPr marL="0" indent="0" algn="ctr">
              <a:buNone/>
            </a:pPr>
            <a:r>
              <a:rPr lang="en-US" sz="3000" b="1" dirty="0">
                <a:solidFill>
                  <a:schemeClr val="accent2"/>
                </a:solidFill>
              </a:rPr>
              <a:t>−</a:t>
            </a:r>
            <a:endParaRPr lang="en-US" sz="3000" dirty="0"/>
          </a:p>
        </p:txBody>
      </p:sp>
      <p:sp>
        <p:nvSpPr>
          <p:cNvPr id="7" name="Card 75"/>
          <p:cNvSpPr/>
          <p:nvPr/>
        </p:nvSpPr>
        <p:spPr>
          <a:xfrm>
            <a:off x="2926080" y="2286000"/>
            <a:ext cx="1764792" cy="1828800"/>
          </a:xfrm>
          <a:prstGeom prst="roundRect">
            <a:avLst>
              <a:gd name="adj" fmla="val 6218"/>
            </a:avLst>
          </a:prstGeom>
          <a:solidFill>
            <a:schemeClr val="tx2"/>
          </a:solidFill>
          <a:ln w="12700">
            <a:solidFill>
              <a:schemeClr val="accent3"/>
            </a:solidFill>
            <a:prstDash val="solid"/>
          </a:ln>
        </p:spPr>
        <p:txBody>
          <a:bodyPr/>
          <a:lstStyle/>
          <a:p>
            <a:endParaRPr lang="en-US"/>
          </a:p>
        </p:txBody>
      </p:sp>
      <p:sp>
        <p:nvSpPr>
          <p:cNvPr id="8" name="Text 76"/>
          <p:cNvSpPr txBox="1"/>
          <p:nvPr/>
        </p:nvSpPr>
        <p:spPr>
          <a:xfrm>
            <a:off x="3017520" y="2514600"/>
            <a:ext cx="1581912" cy="365760"/>
          </a:xfrm>
          <a:prstGeom prst="rect">
            <a:avLst/>
          </a:prstGeom>
          <a:noFill/>
          <a:ln/>
        </p:spPr>
        <p:txBody>
          <a:bodyPr wrap="square" lIns="0" tIns="0" rIns="0" bIns="0" rtlCol="0" anchor="t"/>
          <a:lstStyle/>
          <a:p>
            <a:pPr marL="0" indent="0" algn="ctr">
              <a:buNone/>
            </a:pPr>
            <a:r>
              <a:rPr lang="en-US" sz="1300" dirty="0">
                <a:solidFill>
                  <a:schemeClr val="bg2"/>
                </a:solidFill>
              </a:rPr>
              <a:t>Spent so far</a:t>
            </a:r>
            <a:endParaRPr lang="en-US" sz="1300" dirty="0"/>
          </a:p>
        </p:txBody>
      </p:sp>
      <p:sp>
        <p:nvSpPr>
          <p:cNvPr id="9" name="Text 77"/>
          <p:cNvSpPr txBox="1"/>
          <p:nvPr/>
        </p:nvSpPr>
        <p:spPr>
          <a:xfrm>
            <a:off x="3017520" y="3017520"/>
            <a:ext cx="1581912" cy="731520"/>
          </a:xfrm>
          <a:prstGeom prst="rect">
            <a:avLst/>
          </a:prstGeom>
          <a:noFill/>
          <a:ln/>
        </p:spPr>
        <p:txBody>
          <a:bodyPr wrap="square" lIns="0" tIns="0" rIns="0" bIns="0" rtlCol="0" anchor="ctr"/>
          <a:lstStyle/>
          <a:p>
            <a:pPr marL="0" indent="0" algn="ctr">
              <a:buNone/>
            </a:pPr>
            <a:r>
              <a:rPr lang="en-US" sz="3400" b="1" dirty="0">
                <a:solidFill>
                  <a:schemeClr val="bg1"/>
                </a:solidFill>
              </a:rPr>
              <a:t>18,000</a:t>
            </a:r>
            <a:endParaRPr lang="en-US" sz="3400" dirty="0"/>
          </a:p>
        </p:txBody>
      </p:sp>
      <p:sp>
        <p:nvSpPr>
          <p:cNvPr id="10" name="Text 78"/>
          <p:cNvSpPr txBox="1"/>
          <p:nvPr/>
        </p:nvSpPr>
        <p:spPr>
          <a:xfrm>
            <a:off x="4690872" y="2834640"/>
            <a:ext cx="521208" cy="731520"/>
          </a:xfrm>
          <a:prstGeom prst="rect">
            <a:avLst/>
          </a:prstGeom>
          <a:noFill/>
          <a:ln/>
        </p:spPr>
        <p:txBody>
          <a:bodyPr wrap="square" lIns="0" tIns="0" rIns="0" bIns="0" rtlCol="0" anchor="ctr"/>
          <a:lstStyle/>
          <a:p>
            <a:pPr marL="0" indent="0" algn="ctr">
              <a:buNone/>
            </a:pPr>
            <a:r>
              <a:rPr lang="en-US" sz="3000" b="1" dirty="0">
                <a:solidFill>
                  <a:schemeClr val="accent2"/>
                </a:solidFill>
              </a:rPr>
              <a:t>=</a:t>
            </a:r>
            <a:endParaRPr lang="en-US" sz="3000" dirty="0"/>
          </a:p>
        </p:txBody>
      </p:sp>
      <p:sp>
        <p:nvSpPr>
          <p:cNvPr id="11" name="Card 79"/>
          <p:cNvSpPr/>
          <p:nvPr/>
        </p:nvSpPr>
        <p:spPr>
          <a:xfrm>
            <a:off x="5212080" y="2286000"/>
            <a:ext cx="1764792" cy="1828800"/>
          </a:xfrm>
          <a:prstGeom prst="roundRect">
            <a:avLst>
              <a:gd name="adj" fmla="val 6218"/>
            </a:avLst>
          </a:prstGeom>
          <a:solidFill>
            <a:schemeClr val="tx2"/>
          </a:solidFill>
          <a:ln w="12700">
            <a:solidFill>
              <a:schemeClr val="accent3"/>
            </a:solidFill>
            <a:prstDash val="solid"/>
          </a:ln>
        </p:spPr>
        <p:txBody>
          <a:bodyPr/>
          <a:lstStyle/>
          <a:p>
            <a:endParaRPr lang="en-US"/>
          </a:p>
        </p:txBody>
      </p:sp>
      <p:sp>
        <p:nvSpPr>
          <p:cNvPr id="12" name="Text 80"/>
          <p:cNvSpPr txBox="1"/>
          <p:nvPr/>
        </p:nvSpPr>
        <p:spPr>
          <a:xfrm>
            <a:off x="5303520" y="2514600"/>
            <a:ext cx="1581912" cy="365760"/>
          </a:xfrm>
          <a:prstGeom prst="rect">
            <a:avLst/>
          </a:prstGeom>
          <a:noFill/>
          <a:ln/>
        </p:spPr>
        <p:txBody>
          <a:bodyPr wrap="square" lIns="0" tIns="0" rIns="0" bIns="0" rtlCol="0" anchor="t"/>
          <a:lstStyle/>
          <a:p>
            <a:pPr marL="0" indent="0" algn="ctr">
              <a:buNone/>
            </a:pPr>
            <a:r>
              <a:rPr lang="en-US" sz="1300" dirty="0">
                <a:solidFill>
                  <a:schemeClr val="bg2"/>
                </a:solidFill>
              </a:rPr>
              <a:t>Money left</a:t>
            </a:r>
            <a:endParaRPr lang="en-US" sz="1300" dirty="0"/>
          </a:p>
        </p:txBody>
      </p:sp>
      <p:sp>
        <p:nvSpPr>
          <p:cNvPr id="13" name="Text 81"/>
          <p:cNvSpPr txBox="1"/>
          <p:nvPr/>
        </p:nvSpPr>
        <p:spPr>
          <a:xfrm>
            <a:off x="5303520" y="3017520"/>
            <a:ext cx="1581912" cy="731520"/>
          </a:xfrm>
          <a:prstGeom prst="rect">
            <a:avLst/>
          </a:prstGeom>
          <a:noFill/>
          <a:ln/>
        </p:spPr>
        <p:txBody>
          <a:bodyPr wrap="square" lIns="0" tIns="0" rIns="0" bIns="0" rtlCol="0" anchor="ctr"/>
          <a:lstStyle/>
          <a:p>
            <a:pPr marL="0" indent="0" algn="ctr">
              <a:buNone/>
            </a:pPr>
            <a:r>
              <a:rPr lang="en-US" sz="3400" b="1" dirty="0">
                <a:solidFill>
                  <a:schemeClr val="bg1"/>
                </a:solidFill>
              </a:rPr>
              <a:t>12,000</a:t>
            </a:r>
            <a:endParaRPr lang="en-US" sz="3400" dirty="0"/>
          </a:p>
        </p:txBody>
      </p:sp>
      <p:sp>
        <p:nvSpPr>
          <p:cNvPr id="14" name="Text 82"/>
          <p:cNvSpPr txBox="1"/>
          <p:nvPr/>
        </p:nvSpPr>
        <p:spPr>
          <a:xfrm>
            <a:off x="6976872" y="2834640"/>
            <a:ext cx="521208" cy="731520"/>
          </a:xfrm>
          <a:prstGeom prst="rect">
            <a:avLst/>
          </a:prstGeom>
          <a:noFill/>
          <a:ln/>
        </p:spPr>
        <p:txBody>
          <a:bodyPr wrap="square" lIns="0" tIns="0" rIns="0" bIns="0" rtlCol="0" anchor="ctr"/>
          <a:lstStyle/>
          <a:p>
            <a:pPr marL="0" indent="0" algn="ctr">
              <a:buNone/>
            </a:pPr>
            <a:r>
              <a:rPr lang="en-US" sz="3000" b="1" dirty="0">
                <a:solidFill>
                  <a:schemeClr val="accent2"/>
                </a:solidFill>
              </a:rPr>
              <a:t>÷</a:t>
            </a:r>
            <a:endParaRPr lang="en-US" sz="3000" dirty="0"/>
          </a:p>
        </p:txBody>
      </p:sp>
      <p:sp>
        <p:nvSpPr>
          <p:cNvPr id="15" name="Card 83"/>
          <p:cNvSpPr/>
          <p:nvPr/>
        </p:nvSpPr>
        <p:spPr>
          <a:xfrm>
            <a:off x="7498080" y="2286000"/>
            <a:ext cx="1764792" cy="1828800"/>
          </a:xfrm>
          <a:prstGeom prst="roundRect">
            <a:avLst>
              <a:gd name="adj" fmla="val 6218"/>
            </a:avLst>
          </a:prstGeom>
          <a:solidFill>
            <a:schemeClr val="tx2"/>
          </a:solidFill>
          <a:ln w="12700">
            <a:solidFill>
              <a:schemeClr val="accent3"/>
            </a:solidFill>
            <a:prstDash val="solid"/>
          </a:ln>
        </p:spPr>
        <p:txBody>
          <a:bodyPr/>
          <a:lstStyle/>
          <a:p>
            <a:endParaRPr lang="en-US"/>
          </a:p>
        </p:txBody>
      </p:sp>
      <p:sp>
        <p:nvSpPr>
          <p:cNvPr id="16" name="Text 84"/>
          <p:cNvSpPr txBox="1"/>
          <p:nvPr/>
        </p:nvSpPr>
        <p:spPr>
          <a:xfrm>
            <a:off x="7589520" y="2514600"/>
            <a:ext cx="1581912" cy="365760"/>
          </a:xfrm>
          <a:prstGeom prst="rect">
            <a:avLst/>
          </a:prstGeom>
          <a:noFill/>
          <a:ln/>
        </p:spPr>
        <p:txBody>
          <a:bodyPr wrap="square" lIns="0" tIns="0" rIns="0" bIns="0" rtlCol="0" anchor="t"/>
          <a:lstStyle/>
          <a:p>
            <a:pPr marL="0" indent="0" algn="ctr">
              <a:buNone/>
            </a:pPr>
            <a:r>
              <a:rPr lang="en-US" sz="1300" dirty="0">
                <a:solidFill>
                  <a:schemeClr val="bg2"/>
                </a:solidFill>
              </a:rPr>
              <a:t>Days left</a:t>
            </a:r>
            <a:endParaRPr lang="en-US" sz="1300" dirty="0"/>
          </a:p>
        </p:txBody>
      </p:sp>
      <p:sp>
        <p:nvSpPr>
          <p:cNvPr id="17" name="Text 85"/>
          <p:cNvSpPr txBox="1"/>
          <p:nvPr/>
        </p:nvSpPr>
        <p:spPr>
          <a:xfrm>
            <a:off x="7589520" y="3017520"/>
            <a:ext cx="1581912" cy="731520"/>
          </a:xfrm>
          <a:prstGeom prst="rect">
            <a:avLst/>
          </a:prstGeom>
          <a:noFill/>
          <a:ln/>
        </p:spPr>
        <p:txBody>
          <a:bodyPr wrap="square" lIns="0" tIns="0" rIns="0" bIns="0" rtlCol="0" anchor="ctr"/>
          <a:lstStyle/>
          <a:p>
            <a:pPr marL="0" indent="0" algn="ctr">
              <a:buNone/>
            </a:pPr>
            <a:r>
              <a:rPr lang="en-US" sz="3400" b="1" dirty="0">
                <a:solidFill>
                  <a:schemeClr val="bg1"/>
                </a:solidFill>
              </a:rPr>
              <a:t>15</a:t>
            </a:r>
            <a:endParaRPr lang="en-US" sz="3400" dirty="0"/>
          </a:p>
        </p:txBody>
      </p:sp>
      <p:sp>
        <p:nvSpPr>
          <p:cNvPr id="18" name="Text 86"/>
          <p:cNvSpPr txBox="1"/>
          <p:nvPr/>
        </p:nvSpPr>
        <p:spPr>
          <a:xfrm>
            <a:off x="9262872" y="2834640"/>
            <a:ext cx="521208" cy="731520"/>
          </a:xfrm>
          <a:prstGeom prst="rect">
            <a:avLst/>
          </a:prstGeom>
          <a:noFill/>
          <a:ln/>
        </p:spPr>
        <p:txBody>
          <a:bodyPr wrap="square" lIns="0" tIns="0" rIns="0" bIns="0" rtlCol="0" anchor="ctr"/>
          <a:lstStyle/>
          <a:p>
            <a:pPr marL="0" indent="0" algn="ctr">
              <a:buNone/>
            </a:pPr>
            <a:r>
              <a:rPr lang="en-US" sz="3000" b="1" dirty="0">
                <a:solidFill>
                  <a:schemeClr val="accent2"/>
                </a:solidFill>
              </a:rPr>
              <a:t>=</a:t>
            </a:r>
            <a:endParaRPr lang="en-US" sz="3000" dirty="0"/>
          </a:p>
        </p:txBody>
      </p:sp>
      <p:sp>
        <p:nvSpPr>
          <p:cNvPr id="19" name="Card 87"/>
          <p:cNvSpPr/>
          <p:nvPr/>
        </p:nvSpPr>
        <p:spPr>
          <a:xfrm>
            <a:off x="9784080" y="2286000"/>
            <a:ext cx="1764792" cy="1828800"/>
          </a:xfrm>
          <a:prstGeom prst="roundRect">
            <a:avLst>
              <a:gd name="adj" fmla="val 6218"/>
            </a:avLst>
          </a:prstGeom>
          <a:solidFill>
            <a:schemeClr val="accent1"/>
          </a:solidFill>
          <a:ln w="12700">
            <a:solidFill>
              <a:schemeClr val="accent1"/>
            </a:solidFill>
            <a:prstDash val="solid"/>
          </a:ln>
        </p:spPr>
        <p:txBody>
          <a:bodyPr/>
          <a:lstStyle/>
          <a:p>
            <a:endParaRPr lang="en-US"/>
          </a:p>
        </p:txBody>
      </p:sp>
      <p:sp>
        <p:nvSpPr>
          <p:cNvPr id="20" name="Text 88"/>
          <p:cNvSpPr txBox="1"/>
          <p:nvPr/>
        </p:nvSpPr>
        <p:spPr>
          <a:xfrm>
            <a:off x="9875520" y="2514600"/>
            <a:ext cx="1581912" cy="365760"/>
          </a:xfrm>
          <a:prstGeom prst="rect">
            <a:avLst/>
          </a:prstGeom>
          <a:noFill/>
          <a:ln/>
        </p:spPr>
        <p:txBody>
          <a:bodyPr wrap="square" lIns="0" tIns="0" rIns="0" bIns="0" rtlCol="0" anchor="t"/>
          <a:lstStyle/>
          <a:p>
            <a:pPr marL="0" indent="0" algn="ctr">
              <a:buNone/>
            </a:pPr>
            <a:r>
              <a:rPr lang="en-US" sz="1300" dirty="0">
                <a:solidFill>
                  <a:schemeClr val="tx1"/>
                </a:solidFill>
              </a:rPr>
              <a:t>Safe to spend today</a:t>
            </a:r>
            <a:endParaRPr lang="en-US" sz="1300" dirty="0"/>
          </a:p>
        </p:txBody>
      </p:sp>
      <p:sp>
        <p:nvSpPr>
          <p:cNvPr id="21" name="Text 89"/>
          <p:cNvSpPr txBox="1"/>
          <p:nvPr/>
        </p:nvSpPr>
        <p:spPr>
          <a:xfrm>
            <a:off x="9875520" y="3017520"/>
            <a:ext cx="1581912" cy="731520"/>
          </a:xfrm>
          <a:prstGeom prst="rect">
            <a:avLst/>
          </a:prstGeom>
          <a:noFill/>
          <a:ln/>
        </p:spPr>
        <p:txBody>
          <a:bodyPr wrap="square" lIns="0" tIns="0" rIns="0" bIns="0" rtlCol="0" anchor="ctr"/>
          <a:lstStyle/>
          <a:p>
            <a:pPr marL="0" indent="0" algn="ctr">
              <a:buNone/>
            </a:pPr>
            <a:r>
              <a:rPr lang="en-US" sz="3400" b="1" dirty="0">
                <a:solidFill>
                  <a:schemeClr val="tx1"/>
                </a:solidFill>
              </a:rPr>
              <a:t>800</a:t>
            </a:r>
            <a:endParaRPr lang="en-US" sz="3400" dirty="0"/>
          </a:p>
        </p:txBody>
      </p:sp>
      <p:sp>
        <p:nvSpPr>
          <p:cNvPr id="22" name="Text 90"/>
          <p:cNvSpPr txBox="1"/>
          <p:nvPr/>
        </p:nvSpPr>
        <p:spPr>
          <a:xfrm>
            <a:off x="640080" y="4572000"/>
            <a:ext cx="10881360" cy="457200"/>
          </a:xfrm>
          <a:prstGeom prst="rect">
            <a:avLst/>
          </a:prstGeom>
          <a:noFill/>
          <a:ln/>
        </p:spPr>
        <p:txBody>
          <a:bodyPr wrap="square" lIns="0" tIns="0" rIns="0" bIns="0" rtlCol="0" anchor="t"/>
          <a:lstStyle/>
          <a:p>
            <a:pPr marL="0" indent="0">
              <a:buNone/>
            </a:pPr>
            <a:r>
              <a:rPr lang="en-US" sz="1500" dirty="0">
                <a:solidFill>
                  <a:schemeClr val="bg2"/>
                </a:solidFill>
              </a:rPr>
              <a:t>Example values only, shown without a currency. The figure is recalculated after every purchase.</a:t>
            </a:r>
            <a:endParaRPr lang="en-US" sz="1500" dirty="0"/>
          </a:p>
        </p:txBody>
      </p:sp>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The app screens</a:t>
            </a:r>
            <a:endParaRPr lang="en-US" sz="3400" dirty="0"/>
          </a:p>
        </p:txBody>
      </p:sp>
      <p:sp>
        <p:nvSpPr>
          <p:cNvPr id="3" name="Card 91"/>
          <p:cNvSpPr/>
          <p:nvPr/>
        </p:nvSpPr>
        <p:spPr>
          <a:xfrm>
            <a:off x="630936" y="1408176"/>
            <a:ext cx="2048256" cy="4361688"/>
          </a:xfrm>
          <a:prstGeom prst="roundRect">
            <a:avLst>
              <a:gd name="adj" fmla="val 5357"/>
            </a:avLst>
          </a:prstGeom>
          <a:solidFill>
            <a:schemeClr val="tx1"/>
          </a:solidFill>
          <a:ln w="12700">
            <a:solidFill>
              <a:schemeClr val="accent3"/>
            </a:solidFill>
            <a:prstDash val="solid"/>
          </a:ln>
        </p:spPr>
        <p:txBody>
          <a:bodyPr/>
          <a:lstStyle/>
          <a:p>
            <a:endParaRPr lang="en-US"/>
          </a:p>
        </p:txBody>
      </p:sp>
      <p:pic>
        <p:nvPicPr>
          <p:cNvPr id="4" name="Home screen" descr="Pocket Path Home screen"/>
          <p:cNvPicPr>
            <a:picLocks noChangeAspect="1"/>
          </p:cNvPicPr>
          <p:nvPr/>
        </p:nvPicPr>
        <p:blipFill>
          <a:blip r:embed="rId3"/>
          <a:stretch>
            <a:fillRect/>
          </a:stretch>
        </p:blipFill>
        <p:spPr>
          <a:xfrm>
            <a:off x="685800" y="1463040"/>
            <a:ext cx="1938528" cy="4197096"/>
          </a:xfrm>
          <a:prstGeom prst="rect">
            <a:avLst/>
          </a:prstGeom>
        </p:spPr>
      </p:pic>
      <p:sp>
        <p:nvSpPr>
          <p:cNvPr id="5" name="Text 92"/>
          <p:cNvSpPr txBox="1"/>
          <p:nvPr/>
        </p:nvSpPr>
        <p:spPr>
          <a:xfrm>
            <a:off x="630936" y="5852160"/>
            <a:ext cx="2048256" cy="320040"/>
          </a:xfrm>
          <a:prstGeom prst="rect">
            <a:avLst/>
          </a:prstGeom>
          <a:noFill/>
          <a:ln/>
        </p:spPr>
        <p:txBody>
          <a:bodyPr wrap="square" lIns="0" tIns="0" rIns="0" bIns="0" rtlCol="0" anchor="t"/>
          <a:lstStyle/>
          <a:p>
            <a:pPr marL="0" indent="0" algn="ctr">
              <a:buNone/>
            </a:pPr>
            <a:r>
              <a:rPr lang="en-US" sz="1300" b="1" dirty="0">
                <a:solidFill>
                  <a:schemeClr val="bg2"/>
                </a:solidFill>
              </a:rPr>
              <a:t>Home</a:t>
            </a:r>
            <a:endParaRPr lang="en-US" sz="1300" dirty="0"/>
          </a:p>
        </p:txBody>
      </p:sp>
      <p:sp>
        <p:nvSpPr>
          <p:cNvPr id="6" name="Card 93"/>
          <p:cNvSpPr/>
          <p:nvPr/>
        </p:nvSpPr>
        <p:spPr>
          <a:xfrm>
            <a:off x="2852928" y="1408176"/>
            <a:ext cx="2048256" cy="4361688"/>
          </a:xfrm>
          <a:prstGeom prst="roundRect">
            <a:avLst>
              <a:gd name="adj" fmla="val 5357"/>
            </a:avLst>
          </a:prstGeom>
          <a:solidFill>
            <a:schemeClr val="tx1"/>
          </a:solidFill>
          <a:ln w="12700">
            <a:solidFill>
              <a:schemeClr val="accent3"/>
            </a:solidFill>
            <a:prstDash val="solid"/>
          </a:ln>
        </p:spPr>
        <p:txBody>
          <a:bodyPr/>
          <a:lstStyle/>
          <a:p>
            <a:endParaRPr lang="en-US"/>
          </a:p>
        </p:txBody>
      </p:sp>
      <p:pic>
        <p:nvPicPr>
          <p:cNvPr id="7" name="Quick add screen" descr="Pocket Path Quick add screen"/>
          <p:cNvPicPr>
            <a:picLocks noChangeAspect="1"/>
          </p:cNvPicPr>
          <p:nvPr/>
        </p:nvPicPr>
        <p:blipFill>
          <a:blip r:embed="rId4"/>
          <a:stretch>
            <a:fillRect/>
          </a:stretch>
        </p:blipFill>
        <p:spPr>
          <a:xfrm>
            <a:off x="2907792" y="1463040"/>
            <a:ext cx="1938528" cy="4197096"/>
          </a:xfrm>
          <a:prstGeom prst="rect">
            <a:avLst/>
          </a:prstGeom>
        </p:spPr>
      </p:pic>
      <p:sp>
        <p:nvSpPr>
          <p:cNvPr id="8" name="Text 94"/>
          <p:cNvSpPr txBox="1"/>
          <p:nvPr/>
        </p:nvSpPr>
        <p:spPr>
          <a:xfrm>
            <a:off x="2852928" y="5852160"/>
            <a:ext cx="2048256" cy="320040"/>
          </a:xfrm>
          <a:prstGeom prst="rect">
            <a:avLst/>
          </a:prstGeom>
          <a:noFill/>
          <a:ln/>
        </p:spPr>
        <p:txBody>
          <a:bodyPr wrap="square" lIns="0" tIns="0" rIns="0" bIns="0" rtlCol="0" anchor="t"/>
          <a:lstStyle/>
          <a:p>
            <a:pPr marL="0" indent="0" algn="ctr">
              <a:buNone/>
            </a:pPr>
            <a:r>
              <a:rPr lang="en-US" sz="1300" b="1" dirty="0">
                <a:solidFill>
                  <a:schemeClr val="bg2"/>
                </a:solidFill>
              </a:rPr>
              <a:t>Quick add</a:t>
            </a:r>
            <a:endParaRPr lang="en-US" sz="1300" dirty="0"/>
          </a:p>
        </p:txBody>
      </p:sp>
      <p:sp>
        <p:nvSpPr>
          <p:cNvPr id="9" name="Card 95"/>
          <p:cNvSpPr/>
          <p:nvPr/>
        </p:nvSpPr>
        <p:spPr>
          <a:xfrm>
            <a:off x="5074920" y="1408176"/>
            <a:ext cx="2048256" cy="4361688"/>
          </a:xfrm>
          <a:prstGeom prst="roundRect">
            <a:avLst>
              <a:gd name="adj" fmla="val 5357"/>
            </a:avLst>
          </a:prstGeom>
          <a:solidFill>
            <a:schemeClr val="tx1"/>
          </a:solidFill>
          <a:ln w="12700">
            <a:solidFill>
              <a:schemeClr val="accent3"/>
            </a:solidFill>
            <a:prstDash val="solid"/>
          </a:ln>
        </p:spPr>
        <p:txBody>
          <a:bodyPr/>
          <a:lstStyle/>
          <a:p>
            <a:endParaRPr lang="en-US"/>
          </a:p>
        </p:txBody>
      </p:sp>
      <p:pic>
        <p:nvPicPr>
          <p:cNvPr id="10" name="Insights screen" descr="Pocket Path Insights screen"/>
          <p:cNvPicPr>
            <a:picLocks noChangeAspect="1"/>
          </p:cNvPicPr>
          <p:nvPr/>
        </p:nvPicPr>
        <p:blipFill>
          <a:blip r:embed="rId5"/>
          <a:stretch>
            <a:fillRect/>
          </a:stretch>
        </p:blipFill>
        <p:spPr>
          <a:xfrm>
            <a:off x="5129784" y="1463040"/>
            <a:ext cx="1938528" cy="4197096"/>
          </a:xfrm>
          <a:prstGeom prst="rect">
            <a:avLst/>
          </a:prstGeom>
        </p:spPr>
      </p:pic>
      <p:sp>
        <p:nvSpPr>
          <p:cNvPr id="11" name="Text 96"/>
          <p:cNvSpPr txBox="1"/>
          <p:nvPr/>
        </p:nvSpPr>
        <p:spPr>
          <a:xfrm>
            <a:off x="5074920" y="5852160"/>
            <a:ext cx="2048256" cy="320040"/>
          </a:xfrm>
          <a:prstGeom prst="rect">
            <a:avLst/>
          </a:prstGeom>
          <a:noFill/>
          <a:ln/>
        </p:spPr>
        <p:txBody>
          <a:bodyPr wrap="square" lIns="0" tIns="0" rIns="0" bIns="0" rtlCol="0" anchor="t"/>
          <a:lstStyle/>
          <a:p>
            <a:pPr marL="0" indent="0" algn="ctr">
              <a:buNone/>
            </a:pPr>
            <a:r>
              <a:rPr lang="en-US" sz="1300" b="1" dirty="0">
                <a:solidFill>
                  <a:schemeClr val="bg2"/>
                </a:solidFill>
              </a:rPr>
              <a:t>Insights</a:t>
            </a:r>
            <a:endParaRPr lang="en-US" sz="1300" dirty="0"/>
          </a:p>
        </p:txBody>
      </p:sp>
      <p:sp>
        <p:nvSpPr>
          <p:cNvPr id="12" name="Card 97"/>
          <p:cNvSpPr/>
          <p:nvPr/>
        </p:nvSpPr>
        <p:spPr>
          <a:xfrm>
            <a:off x="7296912" y="1408176"/>
            <a:ext cx="2048256" cy="4361688"/>
          </a:xfrm>
          <a:prstGeom prst="roundRect">
            <a:avLst>
              <a:gd name="adj" fmla="val 5357"/>
            </a:avLst>
          </a:prstGeom>
          <a:solidFill>
            <a:schemeClr val="tx1"/>
          </a:solidFill>
          <a:ln w="12700">
            <a:solidFill>
              <a:schemeClr val="accent3"/>
            </a:solidFill>
            <a:prstDash val="solid"/>
          </a:ln>
        </p:spPr>
        <p:txBody>
          <a:bodyPr/>
          <a:lstStyle/>
          <a:p>
            <a:endParaRPr lang="en-US"/>
          </a:p>
        </p:txBody>
      </p:sp>
      <p:pic>
        <p:nvPicPr>
          <p:cNvPr id="13" name="Budgets screen" descr="Pocket Path Budgets screen"/>
          <p:cNvPicPr>
            <a:picLocks noChangeAspect="1"/>
          </p:cNvPicPr>
          <p:nvPr/>
        </p:nvPicPr>
        <p:blipFill>
          <a:blip r:embed="rId6"/>
          <a:stretch>
            <a:fillRect/>
          </a:stretch>
        </p:blipFill>
        <p:spPr>
          <a:xfrm>
            <a:off x="7351776" y="1463040"/>
            <a:ext cx="1938528" cy="4197096"/>
          </a:xfrm>
          <a:prstGeom prst="rect">
            <a:avLst/>
          </a:prstGeom>
        </p:spPr>
      </p:pic>
      <p:sp>
        <p:nvSpPr>
          <p:cNvPr id="14" name="Text 98"/>
          <p:cNvSpPr txBox="1"/>
          <p:nvPr/>
        </p:nvSpPr>
        <p:spPr>
          <a:xfrm>
            <a:off x="7296912" y="5852160"/>
            <a:ext cx="2048256" cy="320040"/>
          </a:xfrm>
          <a:prstGeom prst="rect">
            <a:avLst/>
          </a:prstGeom>
          <a:noFill/>
          <a:ln/>
        </p:spPr>
        <p:txBody>
          <a:bodyPr wrap="square" lIns="0" tIns="0" rIns="0" bIns="0" rtlCol="0" anchor="t"/>
          <a:lstStyle/>
          <a:p>
            <a:pPr marL="0" indent="0" algn="ctr">
              <a:buNone/>
            </a:pPr>
            <a:r>
              <a:rPr lang="en-US" sz="1300" b="1" dirty="0">
                <a:solidFill>
                  <a:schemeClr val="bg2"/>
                </a:solidFill>
              </a:rPr>
              <a:t>Budgets</a:t>
            </a:r>
            <a:endParaRPr lang="en-US" sz="1300" dirty="0"/>
          </a:p>
        </p:txBody>
      </p:sp>
      <p:sp>
        <p:nvSpPr>
          <p:cNvPr id="15" name="Card 99"/>
          <p:cNvSpPr/>
          <p:nvPr/>
        </p:nvSpPr>
        <p:spPr>
          <a:xfrm>
            <a:off x="9518904" y="1408176"/>
            <a:ext cx="2048256" cy="4361688"/>
          </a:xfrm>
          <a:prstGeom prst="roundRect">
            <a:avLst>
              <a:gd name="adj" fmla="val 5357"/>
            </a:avLst>
          </a:prstGeom>
          <a:solidFill>
            <a:schemeClr val="tx1"/>
          </a:solidFill>
          <a:ln w="12700">
            <a:solidFill>
              <a:schemeClr val="accent3"/>
            </a:solidFill>
            <a:prstDash val="solid"/>
          </a:ln>
        </p:spPr>
        <p:txBody>
          <a:bodyPr/>
          <a:lstStyle/>
          <a:p>
            <a:endParaRPr lang="en-US"/>
          </a:p>
        </p:txBody>
      </p:sp>
      <p:pic>
        <p:nvPicPr>
          <p:cNvPr id="16" name="Subscriptions screen" descr="Pocket Path Subscriptions screen"/>
          <p:cNvPicPr>
            <a:picLocks noChangeAspect="1"/>
          </p:cNvPicPr>
          <p:nvPr/>
        </p:nvPicPr>
        <p:blipFill>
          <a:blip r:embed="rId7"/>
          <a:stretch>
            <a:fillRect/>
          </a:stretch>
        </p:blipFill>
        <p:spPr>
          <a:xfrm>
            <a:off x="9573768" y="1463040"/>
            <a:ext cx="1938528" cy="4197096"/>
          </a:xfrm>
          <a:prstGeom prst="rect">
            <a:avLst/>
          </a:prstGeom>
        </p:spPr>
      </p:pic>
      <p:sp>
        <p:nvSpPr>
          <p:cNvPr id="17" name="Text 100"/>
          <p:cNvSpPr txBox="1"/>
          <p:nvPr/>
        </p:nvSpPr>
        <p:spPr>
          <a:xfrm>
            <a:off x="9518904" y="5852160"/>
            <a:ext cx="2048256" cy="320040"/>
          </a:xfrm>
          <a:prstGeom prst="rect">
            <a:avLst/>
          </a:prstGeom>
          <a:noFill/>
          <a:ln/>
        </p:spPr>
        <p:txBody>
          <a:bodyPr wrap="square" lIns="0" tIns="0" rIns="0" bIns="0" rtlCol="0" anchor="t"/>
          <a:lstStyle/>
          <a:p>
            <a:pPr marL="0" indent="0" algn="ctr">
              <a:buNone/>
            </a:pPr>
            <a:r>
              <a:rPr lang="en-US" sz="1300" b="1" dirty="0">
                <a:solidFill>
                  <a:schemeClr val="bg2"/>
                </a:solidFill>
              </a:rPr>
              <a:t>Subscriptions</a:t>
            </a:r>
            <a:endParaRPr lang="en-US" sz="1300" dirty="0"/>
          </a:p>
        </p:txBody>
      </p:sp>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How the app is structured</a:t>
            </a:r>
            <a:endParaRPr lang="en-US" sz="3400" dirty="0"/>
          </a:p>
        </p:txBody>
      </p:sp>
      <p:sp>
        <p:nvSpPr>
          <p:cNvPr id="3" name="Text 101"/>
          <p:cNvSpPr txBox="1"/>
          <p:nvPr/>
        </p:nvSpPr>
        <p:spPr>
          <a:xfrm>
            <a:off x="640080" y="1463040"/>
            <a:ext cx="54864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SCREENS (BOTTOM TABS)</a:t>
            </a:r>
            <a:endParaRPr lang="en-US" sz="1100" dirty="0"/>
          </a:p>
        </p:txBody>
      </p:sp>
      <p:sp>
        <p:nvSpPr>
          <p:cNvPr id="4" name="Card 102"/>
          <p:cNvSpPr/>
          <p:nvPr/>
        </p:nvSpPr>
        <p:spPr>
          <a:xfrm>
            <a:off x="640080" y="1783080"/>
            <a:ext cx="1920240" cy="960120"/>
          </a:xfrm>
          <a:prstGeom prst="roundRect">
            <a:avLst>
              <a:gd name="adj" fmla="val 11429"/>
            </a:avLst>
          </a:prstGeom>
          <a:solidFill>
            <a:schemeClr val="tx2"/>
          </a:solidFill>
          <a:ln w="12700">
            <a:solidFill>
              <a:schemeClr val="accent3"/>
            </a:solidFill>
            <a:prstDash val="solid"/>
          </a:ln>
        </p:spPr>
        <p:txBody>
          <a:bodyPr/>
          <a:lstStyle/>
          <a:p>
            <a:endParaRPr lang="en-US"/>
          </a:p>
        </p:txBody>
      </p:sp>
      <p:sp>
        <p:nvSpPr>
          <p:cNvPr id="5" name="Text 103"/>
          <p:cNvSpPr txBox="1"/>
          <p:nvPr/>
        </p:nvSpPr>
        <p:spPr>
          <a:xfrm>
            <a:off x="731520" y="1783080"/>
            <a:ext cx="1737360" cy="960120"/>
          </a:xfrm>
          <a:prstGeom prst="rect">
            <a:avLst/>
          </a:prstGeom>
          <a:noFill/>
          <a:ln/>
        </p:spPr>
        <p:txBody>
          <a:bodyPr wrap="square" lIns="0" tIns="0" rIns="0" bIns="0" rtlCol="0" anchor="ctr"/>
          <a:lstStyle/>
          <a:p>
            <a:pPr marL="0" indent="0" algn="ctr">
              <a:buNone/>
            </a:pPr>
            <a:r>
              <a:rPr lang="en-US" sz="1700" b="1" dirty="0">
                <a:solidFill>
                  <a:schemeClr val="bg1"/>
                </a:solidFill>
              </a:rPr>
              <a:t>Home</a:t>
            </a:r>
            <a:endParaRPr lang="en-US" sz="1600" dirty="0"/>
          </a:p>
          <a:p>
            <a:pPr marL="0" indent="0" algn="ctr">
              <a:buNone/>
            </a:pPr>
            <a:r>
              <a:rPr lang="en-US" sz="1300" dirty="0">
                <a:solidFill>
                  <a:schemeClr val="bg2"/>
                </a:solidFill>
              </a:rPr>
              <a:t>daily figure</a:t>
            </a:r>
            <a:endParaRPr lang="en-US" sz="1600" dirty="0"/>
          </a:p>
        </p:txBody>
      </p:sp>
      <p:sp>
        <p:nvSpPr>
          <p:cNvPr id="6" name="Arrow 104"/>
          <p:cNvSpPr/>
          <p:nvPr/>
        </p:nvSpPr>
        <p:spPr>
          <a:xfrm>
            <a:off x="1600200" y="2788920"/>
            <a:ext cx="0" cy="1097280"/>
          </a:xfrm>
          <a:prstGeom prst="line">
            <a:avLst/>
          </a:prstGeom>
          <a:noFill/>
          <a:ln w="22225">
            <a:solidFill>
              <a:schemeClr val="accent2"/>
            </a:solidFill>
            <a:prstDash val="solid"/>
            <a:headEnd type="triangle"/>
            <a:tailEnd type="none"/>
          </a:ln>
        </p:spPr>
        <p:txBody>
          <a:bodyPr/>
          <a:lstStyle/>
          <a:p>
            <a:endParaRPr lang="en-US"/>
          </a:p>
        </p:txBody>
      </p:sp>
      <p:sp>
        <p:nvSpPr>
          <p:cNvPr id="7" name="Text 105"/>
          <p:cNvSpPr txBox="1"/>
          <p:nvPr/>
        </p:nvSpPr>
        <p:spPr>
          <a:xfrm>
            <a:off x="1737360" y="3200400"/>
            <a:ext cx="1097280" cy="274320"/>
          </a:xfrm>
          <a:prstGeom prst="rect">
            <a:avLst/>
          </a:prstGeom>
          <a:noFill/>
          <a:ln/>
        </p:spPr>
        <p:txBody>
          <a:bodyPr wrap="square" lIns="0" tIns="0" rIns="0" bIns="0" rtlCol="0" anchor="t"/>
          <a:lstStyle/>
          <a:p>
            <a:pPr marL="0" indent="0">
              <a:buNone/>
            </a:pPr>
            <a:r>
              <a:rPr lang="en-US" sz="1200" dirty="0">
                <a:solidFill>
                  <a:schemeClr val="bg2"/>
                </a:solidFill>
              </a:rPr>
              <a:t>reads</a:t>
            </a:r>
            <a:endParaRPr lang="en-US" sz="1200" dirty="0"/>
          </a:p>
        </p:txBody>
      </p:sp>
      <p:sp>
        <p:nvSpPr>
          <p:cNvPr id="8" name="Card 106"/>
          <p:cNvSpPr/>
          <p:nvPr/>
        </p:nvSpPr>
        <p:spPr>
          <a:xfrm>
            <a:off x="2880360" y="1783080"/>
            <a:ext cx="1920240" cy="960120"/>
          </a:xfrm>
          <a:prstGeom prst="roundRect">
            <a:avLst>
              <a:gd name="adj" fmla="val 11429"/>
            </a:avLst>
          </a:prstGeom>
          <a:solidFill>
            <a:schemeClr val="accent1"/>
          </a:solidFill>
          <a:ln w="12700">
            <a:solidFill>
              <a:schemeClr val="accent1"/>
            </a:solidFill>
            <a:prstDash val="solid"/>
          </a:ln>
        </p:spPr>
        <p:txBody>
          <a:bodyPr/>
          <a:lstStyle/>
          <a:p>
            <a:endParaRPr lang="en-US"/>
          </a:p>
        </p:txBody>
      </p:sp>
      <p:sp>
        <p:nvSpPr>
          <p:cNvPr id="9" name="Text 107"/>
          <p:cNvSpPr txBox="1"/>
          <p:nvPr/>
        </p:nvSpPr>
        <p:spPr>
          <a:xfrm>
            <a:off x="2971800" y="1783080"/>
            <a:ext cx="1737360" cy="960120"/>
          </a:xfrm>
          <a:prstGeom prst="rect">
            <a:avLst/>
          </a:prstGeom>
          <a:noFill/>
          <a:ln/>
        </p:spPr>
        <p:txBody>
          <a:bodyPr wrap="square" lIns="0" tIns="0" rIns="0" bIns="0" rtlCol="0" anchor="ctr"/>
          <a:lstStyle/>
          <a:p>
            <a:pPr marL="0" indent="0" algn="ctr">
              <a:buNone/>
            </a:pPr>
            <a:r>
              <a:rPr lang="en-US" sz="1700" b="1" dirty="0">
                <a:solidFill>
                  <a:schemeClr val="tx1"/>
                </a:solidFill>
              </a:rPr>
              <a:t>Quick add</a:t>
            </a:r>
            <a:endParaRPr lang="en-US" sz="1600" dirty="0"/>
          </a:p>
          <a:p>
            <a:pPr marL="0" indent="0" algn="ctr">
              <a:buNone/>
            </a:pPr>
            <a:r>
              <a:rPr lang="en-US" sz="1300" dirty="0">
                <a:solidFill>
                  <a:schemeClr val="tx1"/>
                </a:solidFill>
              </a:rPr>
              <a:t>5-second log</a:t>
            </a:r>
            <a:endParaRPr lang="en-US" sz="1600" dirty="0"/>
          </a:p>
        </p:txBody>
      </p:sp>
      <p:sp>
        <p:nvSpPr>
          <p:cNvPr id="10" name="Arrow 108"/>
          <p:cNvSpPr/>
          <p:nvPr/>
        </p:nvSpPr>
        <p:spPr>
          <a:xfrm>
            <a:off x="3840480" y="2788920"/>
            <a:ext cx="0" cy="1097280"/>
          </a:xfrm>
          <a:prstGeom prst="line">
            <a:avLst/>
          </a:prstGeom>
          <a:noFill/>
          <a:ln w="22225">
            <a:solidFill>
              <a:schemeClr val="accent2"/>
            </a:solidFill>
            <a:prstDash val="solid"/>
            <a:tailEnd type="triangle"/>
          </a:ln>
        </p:spPr>
        <p:txBody>
          <a:bodyPr/>
          <a:lstStyle/>
          <a:p>
            <a:endParaRPr lang="en-US"/>
          </a:p>
        </p:txBody>
      </p:sp>
      <p:sp>
        <p:nvSpPr>
          <p:cNvPr id="11" name="Text 109"/>
          <p:cNvSpPr txBox="1"/>
          <p:nvPr/>
        </p:nvSpPr>
        <p:spPr>
          <a:xfrm>
            <a:off x="3977640" y="3200400"/>
            <a:ext cx="1097280" cy="274320"/>
          </a:xfrm>
          <a:prstGeom prst="rect">
            <a:avLst/>
          </a:prstGeom>
          <a:noFill/>
          <a:ln/>
        </p:spPr>
        <p:txBody>
          <a:bodyPr wrap="square" lIns="0" tIns="0" rIns="0" bIns="0" rtlCol="0" anchor="t"/>
          <a:lstStyle/>
          <a:p>
            <a:pPr marL="0" indent="0">
              <a:buNone/>
            </a:pPr>
            <a:r>
              <a:rPr lang="en-US" sz="1200" dirty="0">
                <a:solidFill>
                  <a:schemeClr val="bg2"/>
                </a:solidFill>
              </a:rPr>
              <a:t>writes</a:t>
            </a:r>
            <a:endParaRPr lang="en-US" sz="1200" dirty="0"/>
          </a:p>
        </p:txBody>
      </p:sp>
      <p:sp>
        <p:nvSpPr>
          <p:cNvPr id="12" name="Card 110"/>
          <p:cNvSpPr/>
          <p:nvPr/>
        </p:nvSpPr>
        <p:spPr>
          <a:xfrm>
            <a:off x="5120640" y="1783080"/>
            <a:ext cx="1920240" cy="960120"/>
          </a:xfrm>
          <a:prstGeom prst="roundRect">
            <a:avLst>
              <a:gd name="adj" fmla="val 11429"/>
            </a:avLst>
          </a:prstGeom>
          <a:solidFill>
            <a:schemeClr val="tx2"/>
          </a:solidFill>
          <a:ln w="12700">
            <a:solidFill>
              <a:schemeClr val="accent3"/>
            </a:solidFill>
            <a:prstDash val="solid"/>
          </a:ln>
        </p:spPr>
        <p:txBody>
          <a:bodyPr/>
          <a:lstStyle/>
          <a:p>
            <a:endParaRPr lang="en-US"/>
          </a:p>
        </p:txBody>
      </p:sp>
      <p:sp>
        <p:nvSpPr>
          <p:cNvPr id="13" name="Text 111"/>
          <p:cNvSpPr txBox="1"/>
          <p:nvPr/>
        </p:nvSpPr>
        <p:spPr>
          <a:xfrm>
            <a:off x="5212080" y="1783080"/>
            <a:ext cx="1737360" cy="960120"/>
          </a:xfrm>
          <a:prstGeom prst="rect">
            <a:avLst/>
          </a:prstGeom>
          <a:noFill/>
          <a:ln/>
        </p:spPr>
        <p:txBody>
          <a:bodyPr wrap="square" lIns="0" tIns="0" rIns="0" bIns="0" rtlCol="0" anchor="ctr"/>
          <a:lstStyle/>
          <a:p>
            <a:pPr marL="0" indent="0" algn="ctr">
              <a:buNone/>
            </a:pPr>
            <a:r>
              <a:rPr lang="en-US" sz="1700" b="1" dirty="0">
                <a:solidFill>
                  <a:schemeClr val="bg1"/>
                </a:solidFill>
              </a:rPr>
              <a:t>Insights</a:t>
            </a:r>
            <a:endParaRPr lang="en-US" sz="1600" dirty="0"/>
          </a:p>
          <a:p>
            <a:pPr marL="0" indent="0" algn="ctr">
              <a:buNone/>
            </a:pPr>
            <a:r>
              <a:rPr lang="en-US" sz="1300" dirty="0">
                <a:solidFill>
                  <a:schemeClr val="bg2"/>
                </a:solidFill>
              </a:rPr>
              <a:t>category totals</a:t>
            </a:r>
            <a:endParaRPr lang="en-US" sz="1600" dirty="0"/>
          </a:p>
        </p:txBody>
      </p:sp>
      <p:sp>
        <p:nvSpPr>
          <p:cNvPr id="14" name="Arrow 112"/>
          <p:cNvSpPr/>
          <p:nvPr/>
        </p:nvSpPr>
        <p:spPr>
          <a:xfrm>
            <a:off x="6080760" y="2788920"/>
            <a:ext cx="0" cy="1097280"/>
          </a:xfrm>
          <a:prstGeom prst="line">
            <a:avLst/>
          </a:prstGeom>
          <a:noFill/>
          <a:ln w="22225">
            <a:solidFill>
              <a:schemeClr val="accent2"/>
            </a:solidFill>
            <a:prstDash val="solid"/>
            <a:headEnd type="triangle"/>
            <a:tailEnd type="none"/>
          </a:ln>
        </p:spPr>
        <p:txBody>
          <a:bodyPr/>
          <a:lstStyle/>
          <a:p>
            <a:endParaRPr lang="en-US"/>
          </a:p>
        </p:txBody>
      </p:sp>
      <p:sp>
        <p:nvSpPr>
          <p:cNvPr id="15" name="Text 113"/>
          <p:cNvSpPr txBox="1"/>
          <p:nvPr/>
        </p:nvSpPr>
        <p:spPr>
          <a:xfrm>
            <a:off x="6217920" y="3200400"/>
            <a:ext cx="1097280" cy="274320"/>
          </a:xfrm>
          <a:prstGeom prst="rect">
            <a:avLst/>
          </a:prstGeom>
          <a:noFill/>
          <a:ln/>
        </p:spPr>
        <p:txBody>
          <a:bodyPr wrap="square" lIns="0" tIns="0" rIns="0" bIns="0" rtlCol="0" anchor="t"/>
          <a:lstStyle/>
          <a:p>
            <a:pPr marL="0" indent="0">
              <a:buNone/>
            </a:pPr>
            <a:r>
              <a:rPr lang="en-US" sz="1200" dirty="0">
                <a:solidFill>
                  <a:schemeClr val="bg2"/>
                </a:solidFill>
              </a:rPr>
              <a:t>reads</a:t>
            </a:r>
            <a:endParaRPr lang="en-US" sz="1200" dirty="0"/>
          </a:p>
        </p:txBody>
      </p:sp>
      <p:sp>
        <p:nvSpPr>
          <p:cNvPr id="16" name="Card 114"/>
          <p:cNvSpPr/>
          <p:nvPr/>
        </p:nvSpPr>
        <p:spPr>
          <a:xfrm>
            <a:off x="7360920" y="1783080"/>
            <a:ext cx="1920240" cy="960120"/>
          </a:xfrm>
          <a:prstGeom prst="roundRect">
            <a:avLst>
              <a:gd name="adj" fmla="val 11429"/>
            </a:avLst>
          </a:prstGeom>
          <a:solidFill>
            <a:schemeClr val="tx2"/>
          </a:solidFill>
          <a:ln w="12700">
            <a:solidFill>
              <a:schemeClr val="accent3"/>
            </a:solidFill>
            <a:prstDash val="solid"/>
          </a:ln>
        </p:spPr>
        <p:txBody>
          <a:bodyPr/>
          <a:lstStyle/>
          <a:p>
            <a:endParaRPr lang="en-US"/>
          </a:p>
        </p:txBody>
      </p:sp>
      <p:sp>
        <p:nvSpPr>
          <p:cNvPr id="17" name="Text 115"/>
          <p:cNvSpPr txBox="1"/>
          <p:nvPr/>
        </p:nvSpPr>
        <p:spPr>
          <a:xfrm>
            <a:off x="7452360" y="1783080"/>
            <a:ext cx="1737360" cy="960120"/>
          </a:xfrm>
          <a:prstGeom prst="rect">
            <a:avLst/>
          </a:prstGeom>
          <a:noFill/>
          <a:ln/>
        </p:spPr>
        <p:txBody>
          <a:bodyPr wrap="square" lIns="0" tIns="0" rIns="0" bIns="0" rtlCol="0" anchor="ctr"/>
          <a:lstStyle/>
          <a:p>
            <a:pPr marL="0" indent="0" algn="ctr">
              <a:buNone/>
            </a:pPr>
            <a:r>
              <a:rPr lang="en-US" sz="1700" b="1" dirty="0">
                <a:solidFill>
                  <a:schemeClr val="bg1"/>
                </a:solidFill>
              </a:rPr>
              <a:t>Budgets</a:t>
            </a:r>
            <a:endParaRPr lang="en-US" sz="1600" dirty="0"/>
          </a:p>
          <a:p>
            <a:pPr marL="0" indent="0" algn="ctr">
              <a:buNone/>
            </a:pPr>
            <a:r>
              <a:rPr lang="en-US" sz="1300" dirty="0">
                <a:solidFill>
                  <a:schemeClr val="bg2"/>
                </a:solidFill>
              </a:rPr>
              <a:t>monthly limits</a:t>
            </a:r>
            <a:endParaRPr lang="en-US" sz="1600" dirty="0"/>
          </a:p>
        </p:txBody>
      </p:sp>
      <p:sp>
        <p:nvSpPr>
          <p:cNvPr id="18" name="Arrow 116"/>
          <p:cNvSpPr/>
          <p:nvPr/>
        </p:nvSpPr>
        <p:spPr>
          <a:xfrm>
            <a:off x="8321040" y="2788920"/>
            <a:ext cx="0" cy="1097280"/>
          </a:xfrm>
          <a:prstGeom prst="line">
            <a:avLst/>
          </a:prstGeom>
          <a:noFill/>
          <a:ln w="22225">
            <a:solidFill>
              <a:schemeClr val="accent2"/>
            </a:solidFill>
            <a:prstDash val="solid"/>
            <a:headEnd type="triangle"/>
            <a:tailEnd type="triangle"/>
          </a:ln>
        </p:spPr>
        <p:txBody>
          <a:bodyPr/>
          <a:lstStyle/>
          <a:p>
            <a:endParaRPr lang="en-US"/>
          </a:p>
        </p:txBody>
      </p:sp>
      <p:sp>
        <p:nvSpPr>
          <p:cNvPr id="19" name="Text 117"/>
          <p:cNvSpPr txBox="1"/>
          <p:nvPr/>
        </p:nvSpPr>
        <p:spPr>
          <a:xfrm>
            <a:off x="8458200" y="3200400"/>
            <a:ext cx="1097280" cy="274320"/>
          </a:xfrm>
          <a:prstGeom prst="rect">
            <a:avLst/>
          </a:prstGeom>
          <a:noFill/>
          <a:ln/>
        </p:spPr>
        <p:txBody>
          <a:bodyPr wrap="square" lIns="0" tIns="0" rIns="0" bIns="0" rtlCol="0" anchor="t"/>
          <a:lstStyle/>
          <a:p>
            <a:pPr marL="0" indent="0">
              <a:buNone/>
            </a:pPr>
            <a:r>
              <a:rPr lang="en-US" sz="1200" dirty="0">
                <a:solidFill>
                  <a:schemeClr val="bg2"/>
                </a:solidFill>
              </a:rPr>
              <a:t>reads, writes</a:t>
            </a:r>
            <a:endParaRPr lang="en-US" sz="1200" dirty="0"/>
          </a:p>
        </p:txBody>
      </p:sp>
      <p:sp>
        <p:nvSpPr>
          <p:cNvPr id="20" name="Card 118"/>
          <p:cNvSpPr/>
          <p:nvPr/>
        </p:nvSpPr>
        <p:spPr>
          <a:xfrm>
            <a:off x="9601200" y="1783080"/>
            <a:ext cx="1920240" cy="960120"/>
          </a:xfrm>
          <a:prstGeom prst="roundRect">
            <a:avLst>
              <a:gd name="adj" fmla="val 11429"/>
            </a:avLst>
          </a:prstGeom>
          <a:solidFill>
            <a:schemeClr val="tx2"/>
          </a:solidFill>
          <a:ln w="12700">
            <a:solidFill>
              <a:schemeClr val="accent3"/>
            </a:solidFill>
            <a:prstDash val="solid"/>
          </a:ln>
        </p:spPr>
        <p:txBody>
          <a:bodyPr/>
          <a:lstStyle/>
          <a:p>
            <a:endParaRPr lang="en-US"/>
          </a:p>
        </p:txBody>
      </p:sp>
      <p:sp>
        <p:nvSpPr>
          <p:cNvPr id="21" name="Text 119"/>
          <p:cNvSpPr txBox="1"/>
          <p:nvPr/>
        </p:nvSpPr>
        <p:spPr>
          <a:xfrm>
            <a:off x="9692640" y="1783080"/>
            <a:ext cx="1737360" cy="960120"/>
          </a:xfrm>
          <a:prstGeom prst="rect">
            <a:avLst/>
          </a:prstGeom>
          <a:noFill/>
          <a:ln/>
        </p:spPr>
        <p:txBody>
          <a:bodyPr wrap="square" lIns="0" tIns="0" rIns="0" bIns="0" rtlCol="0" anchor="ctr"/>
          <a:lstStyle/>
          <a:p>
            <a:pPr marL="0" indent="0" algn="ctr">
              <a:buNone/>
            </a:pPr>
            <a:r>
              <a:rPr lang="en-US" sz="1700" b="1" dirty="0">
                <a:solidFill>
                  <a:schemeClr val="bg1"/>
                </a:solidFill>
              </a:rPr>
              <a:t>Subscriptions</a:t>
            </a:r>
            <a:endParaRPr lang="en-US" sz="1600" dirty="0"/>
          </a:p>
          <a:p>
            <a:pPr marL="0" indent="0" algn="ctr">
              <a:buNone/>
            </a:pPr>
            <a:r>
              <a:rPr lang="en-US" sz="1300" dirty="0">
                <a:solidFill>
                  <a:schemeClr val="bg2"/>
                </a:solidFill>
              </a:rPr>
              <a:t>recurring costs</a:t>
            </a:r>
            <a:endParaRPr lang="en-US" sz="1600" dirty="0"/>
          </a:p>
        </p:txBody>
      </p:sp>
      <p:sp>
        <p:nvSpPr>
          <p:cNvPr id="22" name="Arrow 120"/>
          <p:cNvSpPr/>
          <p:nvPr/>
        </p:nvSpPr>
        <p:spPr>
          <a:xfrm>
            <a:off x="10561320" y="2788920"/>
            <a:ext cx="0" cy="1097280"/>
          </a:xfrm>
          <a:prstGeom prst="line">
            <a:avLst/>
          </a:prstGeom>
          <a:noFill/>
          <a:ln w="22225">
            <a:solidFill>
              <a:schemeClr val="accent2"/>
            </a:solidFill>
            <a:prstDash val="solid"/>
            <a:headEnd type="triangle"/>
            <a:tailEnd type="triangle"/>
          </a:ln>
        </p:spPr>
        <p:txBody>
          <a:bodyPr/>
          <a:lstStyle/>
          <a:p>
            <a:endParaRPr lang="en-US"/>
          </a:p>
        </p:txBody>
      </p:sp>
      <p:sp>
        <p:nvSpPr>
          <p:cNvPr id="23" name="Text 121"/>
          <p:cNvSpPr txBox="1"/>
          <p:nvPr/>
        </p:nvSpPr>
        <p:spPr>
          <a:xfrm>
            <a:off x="10698480" y="3200400"/>
            <a:ext cx="1097280" cy="274320"/>
          </a:xfrm>
          <a:prstGeom prst="rect">
            <a:avLst/>
          </a:prstGeom>
          <a:noFill/>
          <a:ln/>
        </p:spPr>
        <p:txBody>
          <a:bodyPr wrap="square" lIns="0" tIns="0" rIns="0" bIns="0" rtlCol="0" anchor="t"/>
          <a:lstStyle/>
          <a:p>
            <a:pPr marL="0" indent="0">
              <a:buNone/>
            </a:pPr>
            <a:r>
              <a:rPr lang="en-US" sz="1200" dirty="0">
                <a:solidFill>
                  <a:schemeClr val="bg2"/>
                </a:solidFill>
              </a:rPr>
              <a:t>reads, writes</a:t>
            </a:r>
            <a:endParaRPr lang="en-US" sz="1200" dirty="0"/>
          </a:p>
        </p:txBody>
      </p:sp>
      <p:sp>
        <p:nvSpPr>
          <p:cNvPr id="24" name="Card 122"/>
          <p:cNvSpPr/>
          <p:nvPr/>
        </p:nvSpPr>
        <p:spPr>
          <a:xfrm>
            <a:off x="640080" y="3931920"/>
            <a:ext cx="10881360" cy="2011680"/>
          </a:xfrm>
          <a:prstGeom prst="roundRect">
            <a:avLst>
              <a:gd name="adj" fmla="val 5455"/>
            </a:avLst>
          </a:prstGeom>
          <a:solidFill>
            <a:schemeClr val="tx2"/>
          </a:solidFill>
          <a:ln w="12700">
            <a:solidFill>
              <a:schemeClr val="accent3"/>
            </a:solidFill>
            <a:prstDash val="solid"/>
          </a:ln>
        </p:spPr>
        <p:txBody>
          <a:bodyPr/>
          <a:lstStyle/>
          <a:p>
            <a:endParaRPr lang="en-US"/>
          </a:p>
        </p:txBody>
      </p:sp>
      <p:sp>
        <p:nvSpPr>
          <p:cNvPr id="25" name="Text 123"/>
          <p:cNvSpPr txBox="1"/>
          <p:nvPr/>
        </p:nvSpPr>
        <p:spPr>
          <a:xfrm>
            <a:off x="914400" y="4160520"/>
            <a:ext cx="5486400" cy="274320"/>
          </a:xfrm>
          <a:prstGeom prst="rect">
            <a:avLst/>
          </a:prstGeom>
          <a:noFill/>
          <a:ln/>
        </p:spPr>
        <p:txBody>
          <a:bodyPr wrap="square" lIns="0" tIns="0" rIns="0" bIns="0" rtlCol="0" anchor="t"/>
          <a:lstStyle/>
          <a:p>
            <a:pPr marL="0" indent="0">
              <a:buNone/>
            </a:pPr>
            <a:r>
              <a:rPr lang="en-US" sz="1100" b="1" kern="0" spc="150" dirty="0">
                <a:solidFill>
                  <a:schemeClr val="accent2"/>
                </a:solidFill>
              </a:rPr>
              <a:t>LOCAL DATA STORE (ON THE PHONE)</a:t>
            </a:r>
            <a:endParaRPr lang="en-US" sz="1100" dirty="0"/>
          </a:p>
        </p:txBody>
      </p:sp>
      <p:sp>
        <p:nvSpPr>
          <p:cNvPr id="26" name="Card 124"/>
          <p:cNvSpPr/>
          <p:nvPr/>
        </p:nvSpPr>
        <p:spPr>
          <a:xfrm>
            <a:off x="914400" y="4617720"/>
            <a:ext cx="2441448" cy="685800"/>
          </a:xfrm>
          <a:prstGeom prst="roundRect">
            <a:avLst>
              <a:gd name="adj" fmla="val 16000"/>
            </a:avLst>
          </a:prstGeom>
          <a:solidFill>
            <a:schemeClr val="tx1"/>
          </a:solidFill>
          <a:ln w="12700">
            <a:solidFill>
              <a:schemeClr val="accent3"/>
            </a:solidFill>
            <a:prstDash val="solid"/>
          </a:ln>
        </p:spPr>
        <p:txBody>
          <a:bodyPr/>
          <a:lstStyle/>
          <a:p>
            <a:endParaRPr lang="en-US"/>
          </a:p>
        </p:txBody>
      </p:sp>
      <p:sp>
        <p:nvSpPr>
          <p:cNvPr id="27" name="Text 125"/>
          <p:cNvSpPr txBox="1"/>
          <p:nvPr/>
        </p:nvSpPr>
        <p:spPr>
          <a:xfrm>
            <a:off x="914400" y="4617720"/>
            <a:ext cx="2441448" cy="685800"/>
          </a:xfrm>
          <a:prstGeom prst="rect">
            <a:avLst/>
          </a:prstGeom>
          <a:noFill/>
          <a:ln/>
        </p:spPr>
        <p:txBody>
          <a:bodyPr wrap="square" lIns="0" tIns="0" rIns="0" bIns="0" rtlCol="0" anchor="ctr"/>
          <a:lstStyle/>
          <a:p>
            <a:pPr marL="0" indent="0" algn="ctr">
              <a:buNone/>
            </a:pPr>
            <a:r>
              <a:rPr lang="en-US" sz="1500" b="1" dirty="0">
                <a:solidFill>
                  <a:schemeClr val="bg1"/>
                </a:solidFill>
              </a:rPr>
              <a:t>Expenses</a:t>
            </a:r>
            <a:endParaRPr lang="en-US" sz="1500" dirty="0"/>
          </a:p>
        </p:txBody>
      </p:sp>
      <p:sp>
        <p:nvSpPr>
          <p:cNvPr id="28" name="Card 126"/>
          <p:cNvSpPr/>
          <p:nvPr/>
        </p:nvSpPr>
        <p:spPr>
          <a:xfrm>
            <a:off x="3538728" y="4617720"/>
            <a:ext cx="2441448" cy="685800"/>
          </a:xfrm>
          <a:prstGeom prst="roundRect">
            <a:avLst>
              <a:gd name="adj" fmla="val 16000"/>
            </a:avLst>
          </a:prstGeom>
          <a:solidFill>
            <a:schemeClr val="tx1"/>
          </a:solidFill>
          <a:ln w="12700">
            <a:solidFill>
              <a:schemeClr val="accent3"/>
            </a:solidFill>
            <a:prstDash val="solid"/>
          </a:ln>
        </p:spPr>
        <p:txBody>
          <a:bodyPr/>
          <a:lstStyle/>
          <a:p>
            <a:endParaRPr lang="en-US"/>
          </a:p>
        </p:txBody>
      </p:sp>
      <p:sp>
        <p:nvSpPr>
          <p:cNvPr id="29" name="Text 127"/>
          <p:cNvSpPr txBox="1"/>
          <p:nvPr/>
        </p:nvSpPr>
        <p:spPr>
          <a:xfrm>
            <a:off x="3538728" y="4617720"/>
            <a:ext cx="2441448" cy="685800"/>
          </a:xfrm>
          <a:prstGeom prst="rect">
            <a:avLst/>
          </a:prstGeom>
          <a:noFill/>
          <a:ln/>
        </p:spPr>
        <p:txBody>
          <a:bodyPr wrap="square" lIns="0" tIns="0" rIns="0" bIns="0" rtlCol="0" anchor="ctr"/>
          <a:lstStyle/>
          <a:p>
            <a:pPr marL="0" indent="0" algn="ctr">
              <a:buNone/>
            </a:pPr>
            <a:r>
              <a:rPr lang="en-US" sz="1500" b="1" dirty="0">
                <a:solidFill>
                  <a:schemeClr val="bg1"/>
                </a:solidFill>
              </a:rPr>
              <a:t>Category budgets</a:t>
            </a:r>
            <a:endParaRPr lang="en-US" sz="1500" dirty="0"/>
          </a:p>
        </p:txBody>
      </p:sp>
      <p:sp>
        <p:nvSpPr>
          <p:cNvPr id="30" name="Card 128"/>
          <p:cNvSpPr/>
          <p:nvPr/>
        </p:nvSpPr>
        <p:spPr>
          <a:xfrm>
            <a:off x="6163056" y="4617720"/>
            <a:ext cx="2441448" cy="685800"/>
          </a:xfrm>
          <a:prstGeom prst="roundRect">
            <a:avLst>
              <a:gd name="adj" fmla="val 16000"/>
            </a:avLst>
          </a:prstGeom>
          <a:solidFill>
            <a:schemeClr val="tx1"/>
          </a:solidFill>
          <a:ln w="12700">
            <a:solidFill>
              <a:schemeClr val="accent3"/>
            </a:solidFill>
            <a:prstDash val="solid"/>
          </a:ln>
        </p:spPr>
        <p:txBody>
          <a:bodyPr/>
          <a:lstStyle/>
          <a:p>
            <a:endParaRPr lang="en-US"/>
          </a:p>
        </p:txBody>
      </p:sp>
      <p:sp>
        <p:nvSpPr>
          <p:cNvPr id="31" name="Text 129"/>
          <p:cNvSpPr txBox="1"/>
          <p:nvPr/>
        </p:nvSpPr>
        <p:spPr>
          <a:xfrm>
            <a:off x="6163056" y="4617720"/>
            <a:ext cx="2441448" cy="685800"/>
          </a:xfrm>
          <a:prstGeom prst="rect">
            <a:avLst/>
          </a:prstGeom>
          <a:noFill/>
          <a:ln/>
        </p:spPr>
        <p:txBody>
          <a:bodyPr wrap="square" lIns="0" tIns="0" rIns="0" bIns="0" rtlCol="0" anchor="ctr"/>
          <a:lstStyle/>
          <a:p>
            <a:pPr marL="0" indent="0" algn="ctr">
              <a:buNone/>
            </a:pPr>
            <a:r>
              <a:rPr lang="en-US" sz="1500" b="1" dirty="0">
                <a:solidFill>
                  <a:schemeClr val="bg1"/>
                </a:solidFill>
              </a:rPr>
              <a:t>Subscriptions</a:t>
            </a:r>
            <a:endParaRPr lang="en-US" sz="1500" dirty="0"/>
          </a:p>
        </p:txBody>
      </p:sp>
      <p:sp>
        <p:nvSpPr>
          <p:cNvPr id="32" name="Card 130"/>
          <p:cNvSpPr/>
          <p:nvPr/>
        </p:nvSpPr>
        <p:spPr>
          <a:xfrm>
            <a:off x="8787384" y="4617720"/>
            <a:ext cx="2441448" cy="685800"/>
          </a:xfrm>
          <a:prstGeom prst="roundRect">
            <a:avLst>
              <a:gd name="adj" fmla="val 16000"/>
            </a:avLst>
          </a:prstGeom>
          <a:solidFill>
            <a:schemeClr val="tx1"/>
          </a:solidFill>
          <a:ln w="12700">
            <a:solidFill>
              <a:schemeClr val="accent3"/>
            </a:solidFill>
            <a:prstDash val="solid"/>
          </a:ln>
        </p:spPr>
        <p:txBody>
          <a:bodyPr/>
          <a:lstStyle/>
          <a:p>
            <a:endParaRPr lang="en-US"/>
          </a:p>
        </p:txBody>
      </p:sp>
      <p:sp>
        <p:nvSpPr>
          <p:cNvPr id="33" name="Text 131"/>
          <p:cNvSpPr txBox="1"/>
          <p:nvPr/>
        </p:nvSpPr>
        <p:spPr>
          <a:xfrm>
            <a:off x="8787384" y="4617720"/>
            <a:ext cx="2441448" cy="685800"/>
          </a:xfrm>
          <a:prstGeom prst="rect">
            <a:avLst/>
          </a:prstGeom>
          <a:noFill/>
          <a:ln/>
        </p:spPr>
        <p:txBody>
          <a:bodyPr wrap="square" lIns="0" tIns="0" rIns="0" bIns="0" rtlCol="0" anchor="ctr"/>
          <a:lstStyle/>
          <a:p>
            <a:pPr marL="0" indent="0" algn="ctr">
              <a:buNone/>
            </a:pPr>
            <a:r>
              <a:rPr lang="en-US" sz="1500" b="1" dirty="0">
                <a:solidFill>
                  <a:schemeClr val="bg1"/>
                </a:solidFill>
              </a:rPr>
              <a:t>Allowance + settings</a:t>
            </a:r>
            <a:endParaRPr lang="en-US" sz="1500" dirty="0"/>
          </a:p>
        </p:txBody>
      </p:sp>
      <p:sp>
        <p:nvSpPr>
          <p:cNvPr id="34" name="Text 132"/>
          <p:cNvSpPr txBox="1"/>
          <p:nvPr/>
        </p:nvSpPr>
        <p:spPr>
          <a:xfrm>
            <a:off x="914400" y="5486400"/>
            <a:ext cx="10058400" cy="320040"/>
          </a:xfrm>
          <a:prstGeom prst="rect">
            <a:avLst/>
          </a:prstGeom>
          <a:noFill/>
          <a:ln/>
        </p:spPr>
        <p:txBody>
          <a:bodyPr wrap="square" lIns="0" tIns="0" rIns="0" bIns="0" rtlCol="0" anchor="t"/>
          <a:lstStyle/>
          <a:p>
            <a:pPr marL="0" indent="0">
              <a:buNone/>
            </a:pPr>
            <a:r>
              <a:rPr lang="en-US" sz="1300" dirty="0">
                <a:solidFill>
                  <a:schemeClr val="bg2"/>
                </a:solidFill>
              </a:rPr>
              <a:t>No login and no bank connection: all data stays on the phone.</a:t>
            </a:r>
            <a:endParaRPr lang="en-US" sz="1300" dirty="0"/>
          </a:p>
        </p:txBody>
      </p:sp>
      <p:sp>
        <p:nvSpPr>
          <p:cNvPr id="3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457200"/>
            <a:ext cx="10908792" cy="822960"/>
          </a:xfrm>
          <a:prstGeom prst="rect">
            <a:avLst/>
          </a:prstGeom>
          <a:noFill/>
          <a:ln/>
        </p:spPr>
        <p:txBody>
          <a:bodyPr wrap="square" lIns="0" tIns="0" rIns="0" bIns="0" rtlCol="0" anchor="ctr"/>
          <a:lstStyle/>
          <a:p>
            <a:pPr marL="0" indent="0" algn="l">
              <a:buNone/>
            </a:pPr>
            <a:r>
              <a:rPr lang="en-US" sz="3400" b="1" dirty="0">
                <a:solidFill>
                  <a:schemeClr val="bg1"/>
                </a:solidFill>
              </a:rPr>
              <a:t>The process</a:t>
            </a:r>
            <a:endParaRPr lang="en-US" sz="3400" dirty="0"/>
          </a:p>
        </p:txBody>
      </p:sp>
      <p:sp>
        <p:nvSpPr>
          <p:cNvPr id="3" name="Card 133"/>
          <p:cNvSpPr/>
          <p:nvPr/>
        </p:nvSpPr>
        <p:spPr>
          <a:xfrm>
            <a:off x="640080" y="1554480"/>
            <a:ext cx="2514600" cy="3108960"/>
          </a:xfrm>
          <a:prstGeom prst="roundRect">
            <a:avLst>
              <a:gd name="adj" fmla="val 4364"/>
            </a:avLst>
          </a:prstGeom>
          <a:solidFill>
            <a:schemeClr val="tx2"/>
          </a:solidFill>
          <a:ln w="12700">
            <a:solidFill>
              <a:schemeClr val="accent3"/>
            </a:solidFill>
            <a:prstDash val="solid"/>
          </a:ln>
        </p:spPr>
        <p:txBody>
          <a:bodyPr/>
          <a:lstStyle/>
          <a:p>
            <a:endParaRPr lang="en-US"/>
          </a:p>
        </p:txBody>
      </p:sp>
      <p:sp>
        <p:nvSpPr>
          <p:cNvPr id="4" name="Text 134"/>
          <p:cNvSpPr txBox="1"/>
          <p:nvPr/>
        </p:nvSpPr>
        <p:spPr>
          <a:xfrm>
            <a:off x="914400" y="1737360"/>
            <a:ext cx="914400" cy="731520"/>
          </a:xfrm>
          <a:prstGeom prst="rect">
            <a:avLst/>
          </a:prstGeom>
          <a:noFill/>
          <a:ln/>
        </p:spPr>
        <p:txBody>
          <a:bodyPr wrap="square" lIns="0" tIns="0" rIns="0" bIns="0" rtlCol="0" anchor="t"/>
          <a:lstStyle/>
          <a:p>
            <a:pPr marL="0" indent="0">
              <a:buNone/>
            </a:pPr>
            <a:r>
              <a:rPr lang="en-US" sz="4000" b="1" dirty="0">
                <a:solidFill>
                  <a:schemeClr val="accent1"/>
                </a:solidFill>
                <a:latin typeface="+mj-lt" pitchFamily="34" charset="0"/>
                <a:ea typeface="+mj-lt" pitchFamily="34" charset="-122"/>
                <a:cs typeface="+mj-lt" pitchFamily="34" charset="-120"/>
              </a:rPr>
              <a:t>1</a:t>
            </a:r>
            <a:endParaRPr lang="en-US" sz="4000" dirty="0"/>
          </a:p>
        </p:txBody>
      </p:sp>
      <p:sp>
        <p:nvSpPr>
          <p:cNvPr id="5" name="Text 135"/>
          <p:cNvSpPr txBox="1"/>
          <p:nvPr/>
        </p:nvSpPr>
        <p:spPr>
          <a:xfrm>
            <a:off x="914400" y="2560320"/>
            <a:ext cx="1965960" cy="365760"/>
          </a:xfrm>
          <a:prstGeom prst="rect">
            <a:avLst/>
          </a:prstGeom>
          <a:noFill/>
          <a:ln/>
        </p:spPr>
        <p:txBody>
          <a:bodyPr wrap="square" lIns="0" tIns="0" rIns="0" bIns="0" rtlCol="0" anchor="t"/>
          <a:lstStyle/>
          <a:p>
            <a:pPr marL="0" indent="0">
              <a:buNone/>
            </a:pPr>
            <a:r>
              <a:rPr lang="en-US" sz="1800" b="1" dirty="0">
                <a:solidFill>
                  <a:schemeClr val="bg1"/>
                </a:solidFill>
              </a:rPr>
              <a:t>Read the brief</a:t>
            </a:r>
            <a:endParaRPr lang="en-US" sz="1800" dirty="0"/>
          </a:p>
        </p:txBody>
      </p:sp>
      <p:sp>
        <p:nvSpPr>
          <p:cNvPr id="6" name="Text 136"/>
          <p:cNvSpPr txBox="1"/>
          <p:nvPr/>
        </p:nvSpPr>
        <p:spPr>
          <a:xfrm>
            <a:off x="914400" y="3017520"/>
            <a:ext cx="1965960" cy="1463040"/>
          </a:xfrm>
          <a:prstGeom prst="rect">
            <a:avLst/>
          </a:prstGeom>
          <a:noFill/>
          <a:ln/>
        </p:spPr>
        <p:txBody>
          <a:bodyPr wrap="square" lIns="0" tIns="0" rIns="0" bIns="0" rtlCol="0" anchor="t"/>
          <a:lstStyle/>
          <a:p>
            <a:pPr marL="0" indent="0">
              <a:buNone/>
            </a:pPr>
            <a:r>
              <a:rPr lang="en-US" sz="1500" dirty="0">
                <a:solidFill>
                  <a:schemeClr val="bg2"/>
                </a:solidFill>
              </a:rPr>
              <a:t>Claude explained the task and split it into understand, control, manage.</a:t>
            </a:r>
            <a:endParaRPr lang="en-US" sz="1500" dirty="0"/>
          </a:p>
        </p:txBody>
      </p:sp>
      <p:sp>
        <p:nvSpPr>
          <p:cNvPr id="7" name="Card 137"/>
          <p:cNvSpPr/>
          <p:nvPr/>
        </p:nvSpPr>
        <p:spPr>
          <a:xfrm>
            <a:off x="3429000" y="1554480"/>
            <a:ext cx="2514600" cy="3108960"/>
          </a:xfrm>
          <a:prstGeom prst="roundRect">
            <a:avLst>
              <a:gd name="adj" fmla="val 4364"/>
            </a:avLst>
          </a:prstGeom>
          <a:solidFill>
            <a:schemeClr val="tx2"/>
          </a:solidFill>
          <a:ln w="12700">
            <a:solidFill>
              <a:schemeClr val="accent3"/>
            </a:solidFill>
            <a:prstDash val="solid"/>
          </a:ln>
        </p:spPr>
        <p:txBody>
          <a:bodyPr/>
          <a:lstStyle/>
          <a:p>
            <a:endParaRPr lang="en-US"/>
          </a:p>
        </p:txBody>
      </p:sp>
      <p:sp>
        <p:nvSpPr>
          <p:cNvPr id="8" name="Text 138"/>
          <p:cNvSpPr txBox="1"/>
          <p:nvPr/>
        </p:nvSpPr>
        <p:spPr>
          <a:xfrm>
            <a:off x="3703320" y="1737360"/>
            <a:ext cx="914400" cy="731520"/>
          </a:xfrm>
          <a:prstGeom prst="rect">
            <a:avLst/>
          </a:prstGeom>
          <a:noFill/>
          <a:ln/>
        </p:spPr>
        <p:txBody>
          <a:bodyPr wrap="square" lIns="0" tIns="0" rIns="0" bIns="0" rtlCol="0" anchor="t"/>
          <a:lstStyle/>
          <a:p>
            <a:pPr marL="0" indent="0">
              <a:buNone/>
            </a:pPr>
            <a:r>
              <a:rPr lang="en-US" sz="4000" b="1" dirty="0">
                <a:solidFill>
                  <a:schemeClr val="accent1"/>
                </a:solidFill>
                <a:latin typeface="+mj-lt" pitchFamily="34" charset="0"/>
                <a:ea typeface="+mj-lt" pitchFamily="34" charset="-122"/>
                <a:cs typeface="+mj-lt" pitchFamily="34" charset="-120"/>
              </a:rPr>
              <a:t>2</a:t>
            </a:r>
            <a:endParaRPr lang="en-US" sz="4000" dirty="0"/>
          </a:p>
        </p:txBody>
      </p:sp>
      <p:sp>
        <p:nvSpPr>
          <p:cNvPr id="9" name="Text 139"/>
          <p:cNvSpPr txBox="1"/>
          <p:nvPr/>
        </p:nvSpPr>
        <p:spPr>
          <a:xfrm>
            <a:off x="3703320" y="2560320"/>
            <a:ext cx="1965960" cy="365760"/>
          </a:xfrm>
          <a:prstGeom prst="rect">
            <a:avLst/>
          </a:prstGeom>
          <a:noFill/>
          <a:ln/>
        </p:spPr>
        <p:txBody>
          <a:bodyPr wrap="square" lIns="0" tIns="0" rIns="0" bIns="0" rtlCol="0" anchor="t"/>
          <a:lstStyle/>
          <a:p>
            <a:pPr marL="0" indent="0">
              <a:buNone/>
            </a:pPr>
            <a:r>
              <a:rPr lang="en-US" sz="1800" b="1" dirty="0">
                <a:solidFill>
                  <a:schemeClr val="bg1"/>
                </a:solidFill>
              </a:rPr>
              <a:t>Shape the concept</a:t>
            </a:r>
            <a:endParaRPr lang="en-US" sz="1800" dirty="0"/>
          </a:p>
        </p:txBody>
      </p:sp>
      <p:sp>
        <p:nvSpPr>
          <p:cNvPr id="10" name="Text 140"/>
          <p:cNvSpPr txBox="1"/>
          <p:nvPr/>
        </p:nvSpPr>
        <p:spPr>
          <a:xfrm>
            <a:off x="3703320" y="3017520"/>
            <a:ext cx="1965960" cy="1463040"/>
          </a:xfrm>
          <a:prstGeom prst="rect">
            <a:avLst/>
          </a:prstGeom>
          <a:noFill/>
          <a:ln/>
        </p:spPr>
        <p:txBody>
          <a:bodyPr wrap="square" lIns="0" tIns="0" rIns="0" bIns="0" rtlCol="0" anchor="t"/>
          <a:lstStyle/>
          <a:p>
            <a:pPr marL="0" indent="0">
              <a:buNone/>
            </a:pPr>
            <a:r>
              <a:rPr lang="en-US" sz="1500" dirty="0">
                <a:solidFill>
                  <a:schemeClr val="bg2"/>
                </a:solidFill>
              </a:rPr>
              <a:t>Claude proposed the name, user and features. We chose what to keep.</a:t>
            </a:r>
            <a:endParaRPr lang="en-US" sz="1500" dirty="0"/>
          </a:p>
        </p:txBody>
      </p:sp>
      <p:sp>
        <p:nvSpPr>
          <p:cNvPr id="11" name="Card 141"/>
          <p:cNvSpPr/>
          <p:nvPr/>
        </p:nvSpPr>
        <p:spPr>
          <a:xfrm>
            <a:off x="6217920" y="1554480"/>
            <a:ext cx="2514600" cy="3108960"/>
          </a:xfrm>
          <a:prstGeom prst="roundRect">
            <a:avLst>
              <a:gd name="adj" fmla="val 4364"/>
            </a:avLst>
          </a:prstGeom>
          <a:solidFill>
            <a:schemeClr val="tx2"/>
          </a:solidFill>
          <a:ln w="12700">
            <a:solidFill>
              <a:schemeClr val="accent3"/>
            </a:solidFill>
            <a:prstDash val="solid"/>
          </a:ln>
        </p:spPr>
        <p:txBody>
          <a:bodyPr/>
          <a:lstStyle/>
          <a:p>
            <a:endParaRPr lang="en-US"/>
          </a:p>
        </p:txBody>
      </p:sp>
      <p:sp>
        <p:nvSpPr>
          <p:cNvPr id="12" name="Text 142"/>
          <p:cNvSpPr txBox="1"/>
          <p:nvPr/>
        </p:nvSpPr>
        <p:spPr>
          <a:xfrm>
            <a:off x="6492240" y="1737360"/>
            <a:ext cx="914400" cy="731520"/>
          </a:xfrm>
          <a:prstGeom prst="rect">
            <a:avLst/>
          </a:prstGeom>
          <a:noFill/>
          <a:ln/>
        </p:spPr>
        <p:txBody>
          <a:bodyPr wrap="square" lIns="0" tIns="0" rIns="0" bIns="0" rtlCol="0" anchor="t"/>
          <a:lstStyle/>
          <a:p>
            <a:pPr marL="0" indent="0">
              <a:buNone/>
            </a:pPr>
            <a:r>
              <a:rPr lang="en-US" sz="4000" b="1" dirty="0">
                <a:solidFill>
                  <a:schemeClr val="accent1"/>
                </a:solidFill>
                <a:latin typeface="+mj-lt" pitchFamily="34" charset="0"/>
                <a:ea typeface="+mj-lt" pitchFamily="34" charset="-122"/>
                <a:cs typeface="+mj-lt" pitchFamily="34" charset="-120"/>
              </a:rPr>
              <a:t>3</a:t>
            </a:r>
            <a:endParaRPr lang="en-US" sz="4000" dirty="0"/>
          </a:p>
        </p:txBody>
      </p:sp>
      <p:sp>
        <p:nvSpPr>
          <p:cNvPr id="13" name="Text 143"/>
          <p:cNvSpPr txBox="1"/>
          <p:nvPr/>
        </p:nvSpPr>
        <p:spPr>
          <a:xfrm>
            <a:off x="6492240" y="2560320"/>
            <a:ext cx="1965960" cy="365760"/>
          </a:xfrm>
          <a:prstGeom prst="rect">
            <a:avLst/>
          </a:prstGeom>
          <a:noFill/>
          <a:ln/>
        </p:spPr>
        <p:txBody>
          <a:bodyPr wrap="square" lIns="0" tIns="0" rIns="0" bIns="0" rtlCol="0" anchor="t"/>
          <a:lstStyle/>
          <a:p>
            <a:pPr marL="0" indent="0">
              <a:buNone/>
            </a:pPr>
            <a:r>
              <a:rPr lang="en-US" sz="1800" b="1" dirty="0">
                <a:solidFill>
                  <a:schemeClr val="bg1"/>
                </a:solidFill>
              </a:rPr>
              <a:t>Build the prototype</a:t>
            </a:r>
            <a:endParaRPr lang="en-US" sz="1800" dirty="0"/>
          </a:p>
        </p:txBody>
      </p:sp>
      <p:sp>
        <p:nvSpPr>
          <p:cNvPr id="14" name="Text 144"/>
          <p:cNvSpPr txBox="1"/>
          <p:nvPr/>
        </p:nvSpPr>
        <p:spPr>
          <a:xfrm>
            <a:off x="6492240" y="3017520"/>
            <a:ext cx="1965960" cy="1463040"/>
          </a:xfrm>
          <a:prstGeom prst="rect">
            <a:avLst/>
          </a:prstGeom>
          <a:noFill/>
          <a:ln/>
        </p:spPr>
        <p:txBody>
          <a:bodyPr wrap="square" lIns="0" tIns="0" rIns="0" bIns="0" rtlCol="0" anchor="t"/>
          <a:lstStyle/>
          <a:p>
            <a:pPr marL="0" indent="0">
              <a:buNone/>
            </a:pPr>
            <a:r>
              <a:rPr lang="en-US" sz="1500" dirty="0">
                <a:solidFill>
                  <a:schemeClr val="bg2"/>
                </a:solidFill>
              </a:rPr>
              <a:t>Claude wrote the build prompt and designed the app screens.</a:t>
            </a:r>
            <a:endParaRPr lang="en-US" sz="1500" dirty="0"/>
          </a:p>
        </p:txBody>
      </p:sp>
      <p:sp>
        <p:nvSpPr>
          <p:cNvPr id="15" name="Card 145"/>
          <p:cNvSpPr/>
          <p:nvPr/>
        </p:nvSpPr>
        <p:spPr>
          <a:xfrm>
            <a:off x="9006840" y="1554480"/>
            <a:ext cx="2514600" cy="3108960"/>
          </a:xfrm>
          <a:prstGeom prst="roundRect">
            <a:avLst>
              <a:gd name="adj" fmla="val 4364"/>
            </a:avLst>
          </a:prstGeom>
          <a:solidFill>
            <a:schemeClr val="tx2"/>
          </a:solidFill>
          <a:ln w="12700">
            <a:solidFill>
              <a:schemeClr val="accent3"/>
            </a:solidFill>
            <a:prstDash val="solid"/>
          </a:ln>
        </p:spPr>
        <p:txBody>
          <a:bodyPr/>
          <a:lstStyle/>
          <a:p>
            <a:endParaRPr lang="en-US"/>
          </a:p>
        </p:txBody>
      </p:sp>
      <p:sp>
        <p:nvSpPr>
          <p:cNvPr id="16" name="Text 146"/>
          <p:cNvSpPr txBox="1"/>
          <p:nvPr/>
        </p:nvSpPr>
        <p:spPr>
          <a:xfrm>
            <a:off x="9281160" y="1737360"/>
            <a:ext cx="914400" cy="731520"/>
          </a:xfrm>
          <a:prstGeom prst="rect">
            <a:avLst/>
          </a:prstGeom>
          <a:noFill/>
          <a:ln/>
        </p:spPr>
        <p:txBody>
          <a:bodyPr wrap="square" lIns="0" tIns="0" rIns="0" bIns="0" rtlCol="0" anchor="t"/>
          <a:lstStyle/>
          <a:p>
            <a:pPr marL="0" indent="0">
              <a:buNone/>
            </a:pPr>
            <a:r>
              <a:rPr lang="en-US" sz="4000" b="1" dirty="0">
                <a:solidFill>
                  <a:schemeClr val="accent1"/>
                </a:solidFill>
                <a:latin typeface="+mj-lt" pitchFamily="34" charset="0"/>
                <a:ea typeface="+mj-lt" pitchFamily="34" charset="-122"/>
                <a:cs typeface="+mj-lt" pitchFamily="34" charset="-120"/>
              </a:rPr>
              <a:t>4</a:t>
            </a:r>
            <a:endParaRPr lang="en-US" sz="4000" dirty="0"/>
          </a:p>
        </p:txBody>
      </p:sp>
      <p:sp>
        <p:nvSpPr>
          <p:cNvPr id="17" name="Text 147"/>
          <p:cNvSpPr txBox="1"/>
          <p:nvPr/>
        </p:nvSpPr>
        <p:spPr>
          <a:xfrm>
            <a:off x="9281160" y="2560320"/>
            <a:ext cx="1965960" cy="365760"/>
          </a:xfrm>
          <a:prstGeom prst="rect">
            <a:avLst/>
          </a:prstGeom>
          <a:noFill/>
          <a:ln/>
        </p:spPr>
        <p:txBody>
          <a:bodyPr wrap="square" lIns="0" tIns="0" rIns="0" bIns="0" rtlCol="0" anchor="t"/>
          <a:lstStyle/>
          <a:p>
            <a:pPr marL="0" indent="0">
              <a:buNone/>
            </a:pPr>
            <a:r>
              <a:rPr lang="en-US" sz="1800" b="1" dirty="0">
                <a:solidFill>
                  <a:schemeClr val="bg1"/>
                </a:solidFill>
              </a:rPr>
              <a:t>Prepare the pitch</a:t>
            </a:r>
            <a:endParaRPr lang="en-US" sz="1800" dirty="0"/>
          </a:p>
        </p:txBody>
      </p:sp>
      <p:sp>
        <p:nvSpPr>
          <p:cNvPr id="18" name="Text 148"/>
          <p:cNvSpPr txBox="1"/>
          <p:nvPr/>
        </p:nvSpPr>
        <p:spPr>
          <a:xfrm>
            <a:off x="9281160" y="3017520"/>
            <a:ext cx="1965960" cy="1463040"/>
          </a:xfrm>
          <a:prstGeom prst="rect">
            <a:avLst/>
          </a:prstGeom>
          <a:noFill/>
          <a:ln/>
        </p:spPr>
        <p:txBody>
          <a:bodyPr wrap="square" lIns="0" tIns="0" rIns="0" bIns="0" rtlCol="0" anchor="t"/>
          <a:lstStyle/>
          <a:p>
            <a:pPr marL="0" indent="0">
              <a:buNone/>
            </a:pPr>
            <a:r>
              <a:rPr lang="en-US" sz="1500" dirty="0">
                <a:solidFill>
                  <a:schemeClr val="bg2"/>
                </a:solidFill>
              </a:rPr>
              <a:t>Claude drafted these slides. We edited them and wrote the script.</a:t>
            </a:r>
            <a:endParaRPr lang="en-US" sz="1500" dirty="0"/>
          </a:p>
        </p:txBody>
      </p:sp>
      <p:sp>
        <p:nvSpPr>
          <p:cNvPr id="19" name="Text 149"/>
          <p:cNvSpPr txBox="1"/>
          <p:nvPr/>
        </p:nvSpPr>
        <p:spPr>
          <a:xfrm>
            <a:off x="640080" y="5074920"/>
            <a:ext cx="10881360" cy="548640"/>
          </a:xfrm>
          <a:prstGeom prst="rect">
            <a:avLst/>
          </a:prstGeom>
          <a:noFill/>
          <a:ln/>
        </p:spPr>
        <p:txBody>
          <a:bodyPr wrap="square" lIns="0" tIns="0" rIns="0" bIns="0" rtlCol="0" anchor="t"/>
          <a:lstStyle/>
          <a:p>
            <a:pPr marL="0" indent="0">
              <a:buNone/>
            </a:pPr>
            <a:r>
              <a:rPr lang="en-US" sz="2000" b="1" dirty="0">
                <a:solidFill>
                  <a:schemeClr val="bg1"/>
                </a:solidFill>
              </a:rPr>
              <a:t>Our decisions: </a:t>
            </a:r>
            <a:r>
              <a:rPr lang="en-US" sz="2000" dirty="0">
                <a:solidFill>
                  <a:schemeClr val="bg1"/>
                </a:solidFill>
              </a:rPr>
              <a:t>[what your group changed, and why]</a:t>
            </a:r>
            <a:endParaRPr lang="en-US" sz="2000" dirty="0"/>
          </a:p>
        </p:txBody>
      </p:sp>
      <p:sp>
        <p:nvSpPr>
          <p:cNvPr id="25" name="Slide Number Placeholder 0"/>
          <p:cNvSpPr>
            <a:spLocks noGrp="1"/>
          </p:cNvSpPr>
          <p:nvPr>
            <p:ph type="sldNum" sz="quarter" idx="4294967295"/>
          </p:nvPr>
        </p:nvSpPr>
        <p:spPr>
          <a:xfrm>
            <a:off x="10972800" y="635508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50"/>
          <p:cNvSpPr txBox="1"/>
          <p:nvPr/>
        </p:nvSpPr>
        <p:spPr>
          <a:xfrm>
            <a:off x="640080" y="731520"/>
            <a:ext cx="7315200" cy="274320"/>
          </a:xfrm>
          <a:prstGeom prst="rect">
            <a:avLst/>
          </a:prstGeom>
          <a:noFill/>
          <a:ln/>
        </p:spPr>
        <p:txBody>
          <a:bodyPr wrap="square" lIns="0" tIns="0" rIns="0" bIns="0" rtlCol="0" anchor="t"/>
          <a:lstStyle/>
          <a:p>
            <a:pPr marL="0" indent="0">
              <a:buNone/>
            </a:pPr>
            <a:r>
              <a:rPr lang="en-US" sz="1100" b="1" kern="0" spc="150" dirty="0">
                <a:solidFill>
                  <a:schemeClr val="tx1"/>
                </a:solidFill>
              </a:rPr>
              <a:t>POCKET PATH IN ONE SENTENCE</a:t>
            </a:r>
            <a:endParaRPr lang="en-US" sz="1100" dirty="0"/>
          </a:p>
        </p:txBody>
      </p:sp>
      <p:sp>
        <p:nvSpPr>
          <p:cNvPr id="3" name="Text 0"/>
          <p:cNvSpPr>
            <a:spLocks noGrp="1"/>
          </p:cNvSpPr>
          <p:nvPr>
            <p:ph type="title" idx="100" hasCustomPrompt="1"/>
          </p:nvPr>
        </p:nvSpPr>
        <p:spPr>
          <a:xfrm>
            <a:off x="640080" y="1828800"/>
            <a:ext cx="10515600" cy="2743200"/>
          </a:xfrm>
          <a:prstGeom prst="rect">
            <a:avLst/>
          </a:prstGeom>
          <a:noFill/>
          <a:ln/>
        </p:spPr>
        <p:txBody>
          <a:bodyPr wrap="square" lIns="0" tIns="0" rIns="0" bIns="0" rtlCol="0" anchor="ctr"/>
          <a:lstStyle/>
          <a:p>
            <a:pPr marL="0" indent="0" algn="l">
              <a:buNone/>
            </a:pPr>
            <a:r>
              <a:rPr lang="en-US" sz="4400" b="1" dirty="0">
                <a:solidFill>
                  <a:schemeClr val="tx1"/>
                </a:solidFill>
              </a:rPr>
              <a:t>Know how much you can spend today without running out before the month ends.</a:t>
            </a:r>
            <a:endParaRPr lang="en-US" sz="4400" dirty="0"/>
          </a:p>
        </p:txBody>
      </p:sp>
      <p:sp>
        <p:nvSpPr>
          <p:cNvPr id="4" name="Text 0"/>
          <p:cNvSpPr>
            <a:spLocks noGrp="1"/>
          </p:cNvSpPr>
          <p:nvPr>
            <p:ph type="body" idx="101" hasCustomPrompt="1"/>
          </p:nvPr>
        </p:nvSpPr>
        <p:spPr>
          <a:xfrm>
            <a:off x="640080" y="5120640"/>
            <a:ext cx="10515600" cy="640080"/>
          </a:xfrm>
          <a:prstGeom prst="rect">
            <a:avLst/>
          </a:prstGeom>
          <a:noFill/>
          <a:ln/>
        </p:spPr>
        <p:txBody>
          <a:bodyPr wrap="square" lIns="0" tIns="0" rIns="0" bIns="0" rtlCol="0"/>
          <a:lstStyle/>
          <a:p>
            <a:pPr marL="0" indent="0">
              <a:buNone/>
            </a:pPr>
            <a:r>
              <a:rPr lang="en-US" sz="2200" dirty="0">
                <a:solidFill>
                  <a:schemeClr val="tx1"/>
                </a:solidFill>
              </a:rPr>
              <a:t>Thank you. Questions?</a:t>
            </a:r>
            <a:endParaRPr lang="en-US" sz="2200" dirty="0"/>
          </a:p>
        </p:txBody>
      </p:sp>
    </p:spTree>
  </p:cSld>
  <p:clrMapOvr>
    <a:masterClrMapping/>
  </p:clrMapOvr>
</p:sld>
</file>

<file path=ppt/theme/theme1.xml><?xml version="1.0" encoding="utf-8"?>
<a:theme xmlns:a="http://schemas.openxmlformats.org/drawingml/2006/main" name="Pocket Path">
  <a:themeElements>
    <a:clrScheme name="Pocket Path">
      <a:dk1>
        <a:srgbClr val="0E1B18"/>
      </a:dk1>
      <a:lt1>
        <a:srgbClr val="F1EFE6"/>
      </a:lt1>
      <a:dk2>
        <a:srgbClr val="172923"/>
      </a:dk2>
      <a:lt2>
        <a:srgbClr val="A9BDB6"/>
      </a:lt2>
      <a:accent1>
        <a:srgbClr val="F2A541"/>
      </a:accent1>
      <a:accent2>
        <a:srgbClr val="5FD3B3"/>
      </a:accent2>
      <a:accent3>
        <a:srgbClr val="274139"/>
      </a:accent3>
      <a:accent4>
        <a:srgbClr val="FF9478"/>
      </a:accent4>
      <a:accent5>
        <a:srgbClr val="14695A"/>
      </a:accent5>
      <a:accent6>
        <a:srgbClr val="20382F"/>
      </a:accent6>
      <a:hlink>
        <a:srgbClr val="5FD3B3"/>
      </a:hlink>
      <a:folHlink>
        <a:srgbClr val="A9BDB6"/>
      </a:folHlink>
    </a:clrScheme>
    <a:fontScheme name="Pocket Path">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869</Words>
  <Application>Microsoft Office PowerPoint</Application>
  <PresentationFormat>Widescreen</PresentationFormat>
  <Paragraphs>141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Pocket Path</vt:lpstr>
      <vt:lpstr>PocketPath</vt:lpstr>
      <vt:lpstr>The problem</vt:lpstr>
      <vt:lpstr>The product</vt:lpstr>
      <vt:lpstr>How a student uses Pocket Path</vt:lpstr>
      <vt:lpstr>The features</vt:lpstr>
      <vt:lpstr>How the safe-to-spend figure is calculated</vt:lpstr>
      <vt:lpstr>The app screens</vt:lpstr>
      <vt:lpstr>How the app is structured</vt:lpstr>
      <vt:lpstr>The process</vt:lpstr>
      <vt:lpstr>Know how much you can spend today without running out before the month ends.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Pocket Path: student spending app pitch</dc:title>
  <dc:subject>PptxGenJS Presentation</dc:subject>
  <dc:creator>Group 8</dc:creator>
  <cp:lastModifiedBy>OANB Herath</cp:lastModifiedBy>
  <cp:revision>2</cp:revision>
  <dcterms:created xsi:type="dcterms:W3CDTF">2026-10-03T09:45:53Z</dcterms:created>
  <dcterms:modified xsi:type="dcterms:W3CDTF">2026-10-03T09:47:33Z</dcterms:modified>
</cp:coreProperties>
</file>